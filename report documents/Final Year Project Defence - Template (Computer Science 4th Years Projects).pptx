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78" r:id="rId6"/>
    <p:sldId id="281" r:id="rId7"/>
    <p:sldId id="272" r:id="rId8"/>
    <p:sldId id="273" r:id="rId9"/>
    <p:sldId id="280" r:id="rId10"/>
    <p:sldId id="282" r:id="rId11"/>
    <p:sldId id="283" r:id="rId12"/>
    <p:sldId id="299" r:id="rId13"/>
    <p:sldId id="276" r:id="rId14"/>
    <p:sldId id="300" r:id="rId15"/>
    <p:sldId id="301" r:id="rId16"/>
    <p:sldId id="307" r:id="rId17"/>
    <p:sldId id="303" r:id="rId18"/>
    <p:sldId id="304" r:id="rId19"/>
    <p:sldId id="305" r:id="rId20"/>
    <p:sldId id="306" r:id="rId21"/>
    <p:sldId id="290" r:id="rId22"/>
    <p:sldId id="295" r:id="rId23"/>
    <p:sldId id="296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../embeddings/oleObject1.bin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../embeddings/oleObject2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>
                <a:effectLst/>
              </a:rPr>
              <a:t>SAMPLE DISTRIBUTION BY AGE GROUP</a:t>
            </a:r>
            <a:endParaRPr lang="en-US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Sheet1!$H$6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00B05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Sheet1!$G$7:$G$11</c:f>
              <c:strCache>
                <c:ptCount val="5"/>
                <c:pt idx="0">
                  <c:v>below 20 years</c:v>
                </c:pt>
                <c:pt idx="1">
                  <c:v>21-30 years</c:v>
                </c:pt>
                <c:pt idx="2">
                  <c:v>31-40 years</c:v>
                </c:pt>
                <c:pt idx="3">
                  <c:v>41-50 years</c:v>
                </c:pt>
                <c:pt idx="4">
                  <c:v>51-60 years</c:v>
                </c:pt>
              </c:strCache>
            </c:strRef>
          </c:cat>
          <c:val>
            <c:numRef>
              <c:f>Sheet1!$H$7:$H$11</c:f>
              <c:numCache>
                <c:formatCode>General</c:formatCode>
                <c:ptCount val="5"/>
                <c:pt idx="0">
                  <c:v>1</c:v>
                </c:pt>
                <c:pt idx="1">
                  <c:v>18</c:v>
                </c:pt>
                <c:pt idx="2">
                  <c:v>17</c:v>
                </c:pt>
                <c:pt idx="3">
                  <c:v>12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15-4262-AC86-ED40550C582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89920672"/>
        <c:axId val="289917536"/>
      </c:barChart>
      <c:catAx>
        <c:axId val="289920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9917536"/>
        <c:crosses val="autoZero"/>
        <c:auto val="1"/>
        <c:lblAlgn val="ctr"/>
        <c:lblOffset val="100"/>
        <c:noMultiLvlLbl val="0"/>
      </c:catAx>
      <c:valAx>
        <c:axId val="28991753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89920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cap="all" baseline="0">
                <a:effectLst/>
              </a:rPr>
              <a:t>gender composition of the sample</a:t>
            </a:r>
            <a:endParaRPr lang="en-US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E17-43CF-B4F1-EF3387AD3DE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E17-43CF-B4F1-EF3387AD3DE8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Sheet1!$K$34:$K$35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Sheet1!$L$34:$L$35</c:f>
              <c:numCache>
                <c:formatCode>General</c:formatCode>
                <c:ptCount val="2"/>
                <c:pt idx="0">
                  <c:v>36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E17-43CF-B4F1-EF3387AD3DE8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AE6E0B-A306-45D3-8073-722D8D1E7BB2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43AD4-79F1-4093-98A1-9B3B728952F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58276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EAB6-2202-4AC0-888B-D216B927408A}" type="datetime1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244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60FDC-A945-4BDE-ACC6-9004C4FFCF5F}" type="datetime1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119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CD538-9345-4D40-95B0-8D6682B90E38}" type="datetime1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4874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033DB-E391-4B64-86D2-F4ED3A91BC52}" type="datetime1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526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BCFA-81E1-4EAF-A4E4-15DB9A26C5EF}" type="datetime1">
              <a:rPr lang="en-GB" smtClean="0"/>
              <a:t>23/09/2026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106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4DD87-092F-4EF6-AFD1-7872E584DBF4}" type="datetime1">
              <a:rPr lang="en-GB" smtClean="0"/>
              <a:t>23/09/2026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722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9CDF1-BA18-418D-9C92-AB6B015E21E0}" type="datetime1">
              <a:rPr lang="en-GB" smtClean="0"/>
              <a:t>23/09/2026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164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2D3F3-34D7-42B4-823C-4C281A782914}" type="datetime1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942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8651-8BD4-4ABD-BA31-58066C7C3139}" type="datetime1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57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CE42-2BDD-4AC7-898F-A440EB5D34C1}" type="datetime1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983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6291-82E5-4688-BCFE-3F83E278D61D}" type="datetime1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345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88015-4784-4439-BF24-E1D0FCA5D34B}" type="datetime1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B2CF3-79DA-4FD7-92C8-684048778C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28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5539/ijbm.v14n6p43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685800"/>
            <a:ext cx="8686800" cy="3070225"/>
          </a:xfrm>
        </p:spPr>
        <p:txBody>
          <a:bodyPr>
            <a:normAutofit/>
          </a:bodyPr>
          <a:lstStyle/>
          <a:p>
            <a:r>
              <a:rPr lang="en-GB" sz="5400" b="1" dirty="0"/>
              <a:t>THE UNIVERSITY OF ZAMBIA</a:t>
            </a:r>
            <a:br>
              <a:rPr lang="en-GB" sz="5400" b="1" dirty="0"/>
            </a:br>
            <a:r>
              <a:rPr lang="en-GB" sz="4900" b="1" dirty="0">
                <a:solidFill>
                  <a:schemeClr val="accent6">
                    <a:lumMod val="75000"/>
                  </a:schemeClr>
                </a:solidFill>
              </a:rPr>
              <a:t>School of Natural Sciences</a:t>
            </a:r>
            <a:br>
              <a:rPr lang="en-GB" sz="49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Department of </a:t>
            </a:r>
            <a:r>
              <a:rPr lang="en-GB" sz="3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Computing and Informatics </a:t>
            </a:r>
            <a:endParaRPr lang="en-GB" sz="5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4572000"/>
            <a:ext cx="7162800" cy="990600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GB" b="1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Year Project Presentation</a:t>
            </a:r>
          </a:p>
          <a:p>
            <a:r>
              <a:rPr lang="en-GB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October </a:t>
            </a:r>
            <a:r>
              <a:rPr lang="en-GB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endParaRPr lang="en-GB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961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533400"/>
            <a:ext cx="8686800" cy="1524000"/>
          </a:xfrm>
        </p:spPr>
        <p:txBody>
          <a:bodyPr>
            <a:normAutofit fontScale="90000"/>
          </a:bodyPr>
          <a:lstStyle/>
          <a:p>
            <a:r>
              <a:rPr lang="en-GB" sz="5400" b="1" dirty="0"/>
              <a:t>COMPUTER SCIENCE </a:t>
            </a:r>
            <a:br>
              <a:rPr lang="en-GB" sz="5400" b="1" dirty="0"/>
            </a:br>
            <a:r>
              <a:rPr lang="en-GB" b="1" dirty="0"/>
              <a:t>4</a:t>
            </a:r>
            <a:r>
              <a:rPr lang="en-GB" b="1" baseline="30000" dirty="0"/>
              <a:t>TH</a:t>
            </a:r>
            <a:r>
              <a:rPr lang="en-GB" b="1" dirty="0"/>
              <a:t> YEAR PROJECT PRESENTATION</a:t>
            </a:r>
            <a:endParaRPr lang="en-GB" sz="5400" b="1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603750"/>
            <a:ext cx="8077200" cy="1568450"/>
          </a:xfrm>
        </p:spPr>
        <p:txBody>
          <a:bodyPr>
            <a:normAutofit lnSpcReduction="10000"/>
          </a:bodyPr>
          <a:lstStyle/>
          <a:p>
            <a:r>
              <a:rPr lang="en-GB" sz="3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GB" sz="31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Your Name Here</a:t>
            </a:r>
          </a:p>
          <a:p>
            <a:r>
              <a:rPr lang="en-GB" sz="2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ID</a:t>
            </a:r>
            <a:r>
              <a:rPr lang="en-GB" sz="2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GB" sz="31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endParaRPr lang="en-GB" sz="26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SUPERVISOR</a:t>
            </a:r>
            <a:r>
              <a:rPr lang="en-GB" sz="2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GB" sz="2600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en-GB" sz="2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Jackson </a:t>
            </a:r>
            <a:r>
              <a:rPr lang="en-GB" sz="2600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Phiri (PhD)</a:t>
            </a:r>
            <a:endParaRPr lang="en-GB" sz="26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8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8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04800" y="2590800"/>
            <a:ext cx="8382000" cy="15684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1" dirty="0">
                <a:solidFill>
                  <a:schemeClr val="tx1"/>
                </a:solidFill>
              </a:rPr>
              <a:t>Topic: Smart Automatic Hand Washing Model based on IOT Technologies </a:t>
            </a:r>
            <a:endParaRPr lang="en-GB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030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36525"/>
            <a:ext cx="8305800" cy="777875"/>
          </a:xfrm>
        </p:spPr>
        <p:txBody>
          <a:bodyPr>
            <a:noAutofit/>
          </a:bodyPr>
          <a:lstStyle/>
          <a:p>
            <a:r>
              <a:rPr lang="en-GB" sz="4800" b="1" dirty="0">
                <a:cs typeface="Arial" panose="020B0604020202020204" pitchFamily="34" charset="0"/>
              </a:rPr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382000" cy="57150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ZA" sz="2800" dirty="0">
                <a:latin typeface="Arial" pitchFamily="34" charset="0"/>
                <a:cs typeface="Arial" pitchFamily="34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sz="2800" dirty="0">
                <a:latin typeface="Arial" pitchFamily="34" charset="0"/>
                <a:cs typeface="Arial" pitchFamily="34" charset="0"/>
              </a:rPr>
              <a:t>Background of the study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sz="2800" dirty="0">
                <a:latin typeface="Arial" pitchFamily="34" charset="0"/>
                <a:cs typeface="Arial" pitchFamily="34" charset="0"/>
              </a:rPr>
              <a:t>Statement of the problem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800" dirty="0">
                <a:latin typeface="Arial" pitchFamily="34" charset="0"/>
                <a:cs typeface="Arial" pitchFamily="34" charset="0"/>
              </a:rPr>
              <a:t>Aim of the Study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Project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Objectives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Literature </a:t>
            </a:r>
            <a:r>
              <a:rPr lang="en-GB" sz="2800" dirty="0">
                <a:latin typeface="Arial" pitchFamily="34" charset="0"/>
                <a:cs typeface="Arial" pitchFamily="34" charset="0"/>
              </a:rPr>
              <a:t>Review</a:t>
            </a:r>
            <a:endParaRPr lang="en-ZA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Methodology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2800" dirty="0" smtClean="0">
                <a:latin typeface="Arial" pitchFamily="34" charset="0"/>
                <a:cs typeface="Arial" pitchFamily="34" charset="0"/>
              </a:rPr>
              <a:t>Project Results </a:t>
            </a:r>
            <a:r>
              <a:rPr lang="en-ZA" sz="2800" dirty="0">
                <a:latin typeface="Arial" pitchFamily="34" charset="0"/>
                <a:cs typeface="Arial" pitchFamily="34" charset="0"/>
              </a:rPr>
              <a:t>and </a:t>
            </a:r>
            <a:r>
              <a:rPr lang="en-ZA" sz="2800" dirty="0" smtClean="0">
                <a:latin typeface="Arial" pitchFamily="34" charset="0"/>
                <a:cs typeface="Arial" pitchFamily="34" charset="0"/>
              </a:rPr>
              <a:t>Discussion</a:t>
            </a:r>
            <a:endParaRPr lang="en-ZA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2800" dirty="0">
                <a:latin typeface="Arial" pitchFamily="34" charset="0"/>
                <a:cs typeface="Arial" pitchFamily="34" charset="0"/>
              </a:rPr>
              <a:t>Conclusion and </a:t>
            </a:r>
            <a:r>
              <a:rPr lang="en-ZA" sz="2800" dirty="0" smtClean="0">
                <a:latin typeface="Arial" pitchFamily="34" charset="0"/>
                <a:cs typeface="Arial" pitchFamily="34" charset="0"/>
              </a:rPr>
              <a:t>Recommendations</a:t>
            </a:r>
            <a:endParaRPr lang="en-ZA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800" dirty="0">
                <a:latin typeface="Arial" pitchFamily="34" charset="0"/>
                <a:cs typeface="Arial" pitchFamily="34" charset="0"/>
              </a:rPr>
              <a:t>References</a:t>
            </a:r>
            <a:endParaRPr lang="en-ZA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938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b="1" dirty="0">
                <a:cs typeface="Times New Roman" panose="02020603050405020304" pitchFamily="18" charset="0"/>
              </a:rPr>
              <a:t>INTRODUCTION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800" dirty="0"/>
              <a:t>Successful business organisations worldwide are being influenced by the modern phenomenon called </a:t>
            </a:r>
            <a:r>
              <a:rPr lang="en-GB" sz="2800" b="1" dirty="0"/>
              <a:t>Electronic Marketing.</a:t>
            </a:r>
            <a:r>
              <a:rPr lang="en-GB" sz="28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800" dirty="0"/>
              <a:t>Electronic Marketing includes all activities a business conducts using the worldwide web with the main purpose of attracting new clients, retaining existing ones and developing its brand identity. 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2800" dirty="0"/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b="1" dirty="0"/>
              <a:t> </a:t>
            </a:r>
            <a:endParaRPr lang="en-GB" sz="2800" dirty="0"/>
          </a:p>
          <a:p>
            <a:pPr marL="0" indent="0">
              <a:buNone/>
            </a:pPr>
            <a:r>
              <a:rPr lang="en-GB" sz="2800" dirty="0"/>
              <a:t>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217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b="1" dirty="0">
                <a:cs typeface="Times New Roman" panose="02020603050405020304" pitchFamily="18" charset="0"/>
              </a:rPr>
              <a:t>BACKGROUND OF THE STUDY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222222"/>
                </a:solidFill>
                <a:ea typeface="Arial Unicode MS" panose="020B0604020202020204" pitchFamily="34" charset="-128"/>
              </a:rPr>
              <a:t>The Technology Acceptance Model (TAM) is an Information Technology theory which explains factors that influence an individual’s acceptance of technology thereby enhancing its usage ( Avciyucel &amp; Gulbahar, 2013).</a:t>
            </a:r>
            <a:endParaRPr lang="en-GB" sz="28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725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b="1" dirty="0">
                <a:cs typeface="Times New Roman" panose="02020603050405020304" pitchFamily="18" charset="0"/>
              </a:rPr>
              <a:t>STATEMENT OF THE PROBLEM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060950"/>
          </a:xfrm>
        </p:spPr>
        <p:txBody>
          <a:bodyPr>
            <a:no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In Zambia, most business organisations are faced with difficulties resulting from the dramatic rise of E-marketing and how they can use it to generate value for their firms. 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For example, due to increased competition from foreign manufacturers, the market shares  of  Zambian electrical cable companies  have started to shrink significantly.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The foreign firms have taken advantage of their advanced e-marketing strategies in their countries to lure Zambian consumers of cables without difficulties.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/>
              <a:t>The </a:t>
            </a:r>
            <a:r>
              <a:rPr lang="en-GB" sz="2400" b="1" dirty="0" smtClean="0"/>
              <a:t>project </a:t>
            </a:r>
            <a:r>
              <a:rPr lang="en-GB" sz="2400" b="1" dirty="0"/>
              <a:t>looks </a:t>
            </a:r>
            <a:r>
              <a:rPr lang="en-GB" sz="2400" b="1" dirty="0" smtClean="0"/>
              <a:t>at the development of an off the grid automated hand washing systems able to take note of people washing their hands based on face photo image </a:t>
            </a:r>
            <a:r>
              <a:rPr lang="en-US" sz="2400" b="1" dirty="0" smtClean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</a:t>
            </a:r>
            <a:endParaRPr lang="en-US" sz="2400" b="1" dirty="0">
              <a:solidFill>
                <a:srgbClr val="000000"/>
              </a:solidFill>
              <a:ea typeface="Times New Roman" charset="0"/>
              <a:cs typeface="Times New Roman" charset="0"/>
            </a:endParaRPr>
          </a:p>
          <a:p>
            <a:endParaRPr lang="en-GB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779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AIM OF THE STUDY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 smtClean="0"/>
              <a:t>To develop </a:t>
            </a:r>
            <a:r>
              <a:rPr lang="en-GB" dirty="0"/>
              <a:t>of an off </a:t>
            </a:r>
            <a:r>
              <a:rPr lang="en-GB" dirty="0" smtClean="0"/>
              <a:t>the grid </a:t>
            </a:r>
            <a:r>
              <a:rPr lang="en-GB" dirty="0"/>
              <a:t>automated </a:t>
            </a:r>
            <a:r>
              <a:rPr lang="en-GB" dirty="0" smtClean="0"/>
              <a:t>hand washing </a:t>
            </a:r>
            <a:r>
              <a:rPr lang="en-GB" dirty="0"/>
              <a:t>systems able to take note of people washing their hands based on face photo image </a:t>
            </a:r>
            <a:r>
              <a:rPr lang="en-US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481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RESEARCH OBJECTIVES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GB" dirty="0"/>
              <a:t>To identify the factors that are hindering the adoption of an E-Marketing among cable manufacturing companies in Zambia.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GB" dirty="0"/>
              <a:t>To develop the framework and prototype of an E-Marketing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682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RESEARCH QUESTIONS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GB" dirty="0"/>
              <a:t>This research sought answers to the following questions;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GB" dirty="0"/>
              <a:t>What are the factors hindering the adoption of an E-Marketing among cable               manufacturing companies in Zambia?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GB" dirty="0"/>
              <a:t>How can an E-Marketing Model Framework and prototype be developed in order to address these challenges in (1)?</a:t>
            </a:r>
          </a:p>
          <a:p>
            <a:pPr lvl="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93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LITERATURE REVIEW (1/3)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GB" sz="2400" dirty="0"/>
              <a:t>Ali, Ejaz, Aleem, Saeed, Tahir &amp; Kashif (2015) stated that E-Marketing gives an organisation an opportunity to undertake market segmentation.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sz="2400" dirty="0" err="1"/>
              <a:t>Ponos</a:t>
            </a:r>
            <a:r>
              <a:rPr lang="en-GB" sz="2400" dirty="0"/>
              <a:t> London report (2010), the biggest challenge facing potential E-Marketing adopters in Zambia is the high cost of equipment and broadband services. </a:t>
            </a:r>
          </a:p>
          <a:p>
            <a:pPr lvl="0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485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LITERATURE REVIEW (2/3)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048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LITERATURE REVIEW (3/3)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17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RESEARCH METHODOLOGY (1/4)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17638"/>
            <a:ext cx="8382000" cy="5165724"/>
          </a:xfrm>
        </p:spPr>
        <p:txBody>
          <a:bodyPr>
            <a:normAutofit/>
          </a:bodyPr>
          <a:lstStyle/>
          <a:p>
            <a:pPr marL="365760" indent="-365760">
              <a:spcBef>
                <a:spcPts val="400"/>
              </a:spcBef>
            </a:pPr>
            <a:r>
              <a:rPr lang="en-GB" sz="1800" b="1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System Design and Implementation</a:t>
            </a:r>
          </a:p>
          <a:p>
            <a:pPr marL="857250" lvl="1" indent="-457200">
              <a:spcBef>
                <a:spcPts val="200"/>
              </a:spcBef>
            </a:pPr>
            <a:r>
              <a:rPr lang="en-GB" sz="1400" b="1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Proposed Business Process</a:t>
            </a:r>
          </a:p>
          <a:p>
            <a:pPr marL="857250" lvl="1" indent="-457200">
              <a:spcBef>
                <a:spcPts val="200"/>
              </a:spcBef>
            </a:pPr>
            <a:r>
              <a:rPr lang="en-GB" sz="1400" b="1" dirty="0">
                <a:effectLst/>
                <a:latin typeface="Arial" panose="020B060402020202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Requirements Specification</a:t>
            </a:r>
          </a:p>
          <a:p>
            <a:pPr marL="948690" lvl="1" indent="-548640">
              <a:lnSpc>
                <a:spcPct val="110000"/>
              </a:lnSpc>
              <a:spcBef>
                <a:spcPts val="200"/>
              </a:spcBef>
            </a:pPr>
            <a:r>
              <a:rPr lang="en-GB" sz="14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Functional Requirements</a:t>
            </a:r>
          </a:p>
          <a:p>
            <a:pPr marL="948690" lvl="1" indent="-548640">
              <a:lnSpc>
                <a:spcPct val="110000"/>
              </a:lnSpc>
              <a:spcBef>
                <a:spcPts val="200"/>
              </a:spcBef>
            </a:pPr>
            <a:r>
              <a:rPr lang="en-GB" sz="14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Non-Function Requirements</a:t>
            </a:r>
          </a:p>
          <a:p>
            <a:pPr marL="948690" lvl="1" indent="-548640">
              <a:lnSpc>
                <a:spcPct val="110000"/>
              </a:lnSpc>
              <a:spcBef>
                <a:spcPts val="200"/>
              </a:spcBef>
            </a:pPr>
            <a:r>
              <a:rPr lang="en-GB" sz="14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Hardware Requirements</a:t>
            </a:r>
          </a:p>
          <a:p>
            <a:pPr marL="948690" lvl="1" indent="-548640">
              <a:lnSpc>
                <a:spcPct val="110000"/>
              </a:lnSpc>
              <a:spcBef>
                <a:spcPts val="200"/>
              </a:spcBef>
            </a:pPr>
            <a:r>
              <a:rPr lang="en-GB" sz="14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Software </a:t>
            </a:r>
            <a:r>
              <a:rPr lang="en-GB" sz="1400" b="1" dirty="0" smtClean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Requirements</a:t>
            </a:r>
            <a:endParaRPr lang="en-GB" sz="1400" b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79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RESEARCH METHODOLOGY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200"/>
              </a:spcBef>
            </a:pPr>
            <a:r>
              <a:rPr lang="en-GB" sz="1800" b="1" dirty="0">
                <a:latin typeface="Arial" panose="020B060402020202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Design Specification</a:t>
            </a:r>
          </a:p>
          <a:p>
            <a:pPr marL="948690" lvl="1" indent="-548640">
              <a:lnSpc>
                <a:spcPct val="110000"/>
              </a:lnSpc>
              <a:spcBef>
                <a:spcPts val="200"/>
              </a:spcBef>
            </a:pPr>
            <a:r>
              <a:rPr lang="en-GB" sz="1400" b="1" dirty="0">
                <a:latin typeface="Times New Roman" panose="02020603050405020304" pitchFamily="18" charset="0"/>
                <a:ea typeface="PMingLiU" panose="02020500000000000000" pitchFamily="18" charset="-120"/>
              </a:rPr>
              <a:t>System High Level Overview Design</a:t>
            </a:r>
          </a:p>
          <a:p>
            <a:pPr marL="948690" lvl="1" indent="-548640">
              <a:lnSpc>
                <a:spcPct val="110000"/>
              </a:lnSpc>
              <a:spcBef>
                <a:spcPts val="200"/>
              </a:spcBef>
            </a:pPr>
            <a:r>
              <a:rPr lang="en-GB" sz="1400" b="1" dirty="0">
                <a:latin typeface="Times New Roman" panose="02020603050405020304" pitchFamily="18" charset="0"/>
                <a:ea typeface="PMingLiU" panose="02020500000000000000" pitchFamily="18" charset="-120"/>
              </a:rPr>
              <a:t>Logical Design</a:t>
            </a:r>
          </a:p>
          <a:p>
            <a:pPr marL="948690" lvl="1" indent="-548640">
              <a:lnSpc>
                <a:spcPct val="110000"/>
              </a:lnSpc>
              <a:spcBef>
                <a:spcPts val="200"/>
              </a:spcBef>
            </a:pPr>
            <a:r>
              <a:rPr lang="en-GB" sz="1400" b="1" dirty="0">
                <a:latin typeface="Times New Roman" panose="02020603050405020304" pitchFamily="18" charset="0"/>
                <a:ea typeface="PMingLiU" panose="02020500000000000000" pitchFamily="18" charset="-120"/>
              </a:rPr>
              <a:t>Use Case Diagrams</a:t>
            </a:r>
          </a:p>
          <a:p>
            <a:pPr marL="948690" lvl="1" indent="-548640">
              <a:lnSpc>
                <a:spcPct val="110000"/>
              </a:lnSpc>
              <a:spcBef>
                <a:spcPts val="200"/>
              </a:spcBef>
            </a:pPr>
            <a:r>
              <a:rPr lang="en-GB" sz="1400" b="1" dirty="0">
                <a:latin typeface="Times New Roman" panose="02020603050405020304" pitchFamily="18" charset="0"/>
                <a:ea typeface="PMingLiU" panose="02020500000000000000" pitchFamily="18" charset="-120"/>
              </a:rPr>
              <a:t>Activity Diagrams</a:t>
            </a:r>
          </a:p>
          <a:p>
            <a:pPr marL="948690" lvl="1" indent="-548640">
              <a:lnSpc>
                <a:spcPct val="110000"/>
              </a:lnSpc>
              <a:spcBef>
                <a:spcPts val="200"/>
              </a:spcBef>
            </a:pPr>
            <a:r>
              <a:rPr lang="en-GB" sz="1400" b="1" dirty="0">
                <a:latin typeface="Times New Roman" panose="02020603050405020304" pitchFamily="18" charset="0"/>
                <a:ea typeface="PMingLiU" panose="02020500000000000000" pitchFamily="18" charset="-120"/>
              </a:rPr>
              <a:t>Class Diagram</a:t>
            </a:r>
          </a:p>
          <a:p>
            <a:pPr marL="948690" lvl="1" indent="-548640">
              <a:lnSpc>
                <a:spcPct val="110000"/>
              </a:lnSpc>
              <a:spcBef>
                <a:spcPts val="200"/>
              </a:spcBef>
            </a:pPr>
            <a:r>
              <a:rPr lang="en-GB" sz="1400" b="1" dirty="0">
                <a:latin typeface="Times New Roman" panose="02020603050405020304" pitchFamily="18" charset="0"/>
                <a:ea typeface="PMingLiU" panose="02020500000000000000" pitchFamily="18" charset="-120"/>
              </a:rPr>
              <a:t>Sequence Diagrams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667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RESEARCH METHODOLOGY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pPr marL="548640" indent="-548640">
              <a:lnSpc>
                <a:spcPct val="110000"/>
              </a:lnSpc>
              <a:spcBef>
                <a:spcPts val="200"/>
              </a:spcBef>
            </a:pPr>
            <a:r>
              <a:rPr lang="en-GB" sz="2800" b="1" dirty="0">
                <a:latin typeface="Times New Roman" panose="02020603050405020304" pitchFamily="18" charset="0"/>
                <a:ea typeface="PMingLiU" panose="02020500000000000000" pitchFamily="18" charset="-120"/>
              </a:rPr>
              <a:t>Database Design</a:t>
            </a:r>
          </a:p>
          <a:p>
            <a:pPr marL="548640" indent="-548640">
              <a:lnSpc>
                <a:spcPct val="110000"/>
              </a:lnSpc>
              <a:spcBef>
                <a:spcPts val="200"/>
              </a:spcBef>
            </a:pPr>
            <a:r>
              <a:rPr lang="en-GB" sz="2800" b="1" dirty="0">
                <a:latin typeface="Times New Roman" panose="02020603050405020304" pitchFamily="18" charset="0"/>
                <a:ea typeface="PMingLiU" panose="02020500000000000000" pitchFamily="18" charset="-120"/>
              </a:rPr>
              <a:t>Security Design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120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RESEARCH METHODOLOGY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800" dirty="0" smtClean="0"/>
              <a:t>System Testing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800" dirty="0" smtClean="0"/>
              <a:t>System deployment </a:t>
            </a:r>
            <a:endParaRPr lang="en-GB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813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RESULTS AND DISCUSSION </a:t>
            </a:r>
            <a:r>
              <a:rPr lang="en-GB" b="1" dirty="0"/>
              <a:t>(1/4)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                                     </a:t>
            </a:r>
            <a:endParaRPr lang="en-GB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17</a:t>
            </a:fld>
            <a:endParaRPr lang="en-GB"/>
          </a:p>
        </p:txBody>
      </p:sp>
      <p:graphicFrame>
        <p:nvGraphicFramePr>
          <p:cNvPr id="9" name="Chart 8"/>
          <p:cNvGraphicFramePr/>
          <p:nvPr/>
        </p:nvGraphicFramePr>
        <p:xfrm>
          <a:off x="457200" y="2209800"/>
          <a:ext cx="37338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/>
          <p:cNvGraphicFramePr/>
          <p:nvPr/>
        </p:nvGraphicFramePr>
        <p:xfrm>
          <a:off x="4419600" y="2242184"/>
          <a:ext cx="4114800" cy="3396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0620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RESULTS AND DISCUSSION (2/4)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783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RESULTS AND DISCUSSION (3/4)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570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RESULTS AND DISCUSSION (4/4)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3939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04801"/>
            <a:ext cx="7825154" cy="762000"/>
          </a:xfrm>
        </p:spPr>
        <p:txBody>
          <a:bodyPr>
            <a:normAutofit/>
          </a:bodyPr>
          <a:lstStyle/>
          <a:p>
            <a:r>
              <a:rPr lang="en-GB" sz="4000" b="1" dirty="0">
                <a:latin typeface="+mn-lt"/>
                <a:cs typeface="Times New Roman" panose="02020603050405020304" pitchFamily="18" charset="0"/>
              </a:rPr>
              <a:t>CONCLUSION</a:t>
            </a:r>
            <a:endParaRPr lang="en-GB" sz="4000" b="1" dirty="0">
              <a:latin typeface="+mn-lt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04800" y="1219199"/>
            <a:ext cx="8610600" cy="5333999"/>
          </a:xfrm>
        </p:spPr>
        <p:txBody>
          <a:bodyPr>
            <a:normAutofit fontScale="92500"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The study sampled a total of 51 employees from the Target population. Data was collected by way of  structured questionnaires.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 SPSS aided the analysis of both the qualitative and quantitative aspects of the data.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The research found evidence to suggest that the following are the factors hindering E-Marketing adoption;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Age of user</a:t>
            </a:r>
            <a:r>
              <a:rPr lang="en-US" sz="240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r>
              <a:rPr lang="en-GB" sz="240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 The ages of between 25-50 years had a combined 92.1% score in agreeing that E-Marketing could help increase company productivity.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Frequency of internet use. </a:t>
            </a:r>
            <a:r>
              <a:rPr lang="en-GB" sz="220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Respondents who used the internet for more than four hours represented 75% of those that indicated that E-Marketing would be easy to use.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200" b="1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Internet Knowledge</a:t>
            </a:r>
            <a:r>
              <a:rPr lang="en-GB" sz="220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: The chi-square test of independence conducted gave a P-Value of 0.032 against the standard 0.05. This meant that test conducted was significant, hence the conclusion in the affirmative.</a:t>
            </a:r>
            <a:endParaRPr lang="en-US" sz="2200" dirty="0">
              <a:solidFill>
                <a:srgbClr val="000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89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36525"/>
            <a:ext cx="7772400" cy="1219200"/>
          </a:xfrm>
        </p:spPr>
        <p:txBody>
          <a:bodyPr>
            <a:normAutofit/>
          </a:bodyPr>
          <a:lstStyle/>
          <a:p>
            <a:r>
              <a:rPr lang="en-GB" b="1" dirty="0">
                <a:latin typeface="+mn-lt"/>
                <a:cs typeface="Times New Roman" panose="02020603050405020304" pitchFamily="18" charset="0"/>
              </a:rPr>
              <a:t>RECOMMENDATIONS</a:t>
            </a:r>
            <a:endParaRPr lang="en-GB" b="1" dirty="0">
              <a:latin typeface="+mn-lt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04800" y="1294229"/>
            <a:ext cx="8610600" cy="5182772"/>
          </a:xfrm>
        </p:spPr>
        <p:txBody>
          <a:bodyPr>
            <a:normAutofit/>
          </a:bodyPr>
          <a:lstStyle/>
          <a:p>
            <a:pPr marL="514350" indent="-514350" algn="just"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chemeClr val="tx1"/>
                </a:solidFill>
              </a:rPr>
              <a:t>To encourage acceptance of technology, the research recommended that users be trained in order to gain more knowledge and exposure. </a:t>
            </a:r>
          </a:p>
          <a:p>
            <a:pPr marL="514350" indent="-514350" algn="just"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chemeClr val="tx1"/>
                </a:solidFill>
              </a:rPr>
              <a:t>An E-Marketing prototype which was developed by the researcher should be adopted by willing organisations in order to change their status quo.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0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52401"/>
            <a:ext cx="7772400" cy="1066800"/>
          </a:xfrm>
        </p:spPr>
        <p:txBody>
          <a:bodyPr>
            <a:normAutofit/>
          </a:bodyPr>
          <a:lstStyle/>
          <a:p>
            <a:r>
              <a:rPr lang="en-GB" b="1" dirty="0">
                <a:cs typeface="Times New Roman" panose="02020603050405020304" pitchFamily="18" charset="0"/>
              </a:rPr>
              <a:t>REFERNCES</a:t>
            </a:r>
            <a:endParaRPr lang="en-GB" b="1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04800" y="1066799"/>
            <a:ext cx="8610600" cy="5638799"/>
          </a:xfrm>
        </p:spPr>
        <p:txBody>
          <a:bodyPr>
            <a:norm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GB" sz="1800" dirty="0">
                <a:solidFill>
                  <a:schemeClr val="tx1"/>
                </a:solidFill>
              </a:rPr>
              <a:t>Ahmad. M. I (2014, December 20-22), Unified Theory of Acceptance and Use of Technology (UTAUT): A Decade of Validation and Development. Alexandria University. Sourced from:  https://www.researchgate.net/publication/270282896_Unified_Theory_of_Acceptance_and_Use_of_Technology_UTAUT_A_Decade_of_Validation_and_Development. On 9/10/2019@22:24PM.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1800" dirty="0" err="1">
                <a:solidFill>
                  <a:schemeClr val="tx1"/>
                </a:solidFill>
              </a:rPr>
              <a:t>Andreki</a:t>
            </a:r>
            <a:r>
              <a:rPr lang="en-GB" sz="1800" dirty="0">
                <a:solidFill>
                  <a:schemeClr val="tx1"/>
                </a:solidFill>
              </a:rPr>
              <a:t>. P. H. A. and </a:t>
            </a:r>
            <a:r>
              <a:rPr lang="en-GB" sz="1800" dirty="0" err="1">
                <a:solidFill>
                  <a:schemeClr val="tx1"/>
                </a:solidFill>
              </a:rPr>
              <a:t>Yazdanifard</a:t>
            </a:r>
            <a:r>
              <a:rPr lang="en-GB" sz="1800" dirty="0">
                <a:solidFill>
                  <a:schemeClr val="tx1"/>
                </a:solidFill>
              </a:rPr>
              <a:t>. R. (2014, July 12). Is E-Marketing the Future of Marketing Field?. Sourced from: https://file.scirp.org/pdf/AJIBM_2014070910343740.pdf. On 10/02/19@ 17:05.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1800" dirty="0" err="1">
                <a:solidFill>
                  <a:schemeClr val="tx1"/>
                </a:solidFill>
              </a:rPr>
              <a:t>Avciyucel</a:t>
            </a:r>
            <a:r>
              <a:rPr lang="en-GB" sz="1800" dirty="0">
                <a:solidFill>
                  <a:schemeClr val="tx1"/>
                </a:solidFill>
              </a:rPr>
              <a:t>. U. and  </a:t>
            </a:r>
            <a:r>
              <a:rPr lang="en-GB" sz="1800" dirty="0" err="1">
                <a:solidFill>
                  <a:schemeClr val="tx1"/>
                </a:solidFill>
              </a:rPr>
              <a:t>Gulbahar.Y</a:t>
            </a:r>
            <a:r>
              <a:rPr lang="en-GB" sz="1800" dirty="0">
                <a:solidFill>
                  <a:schemeClr val="tx1"/>
                </a:solidFill>
              </a:rPr>
              <a:t>. (2016), Technology Acceptance Model: A Review of the Prior Predictors. Journal of Faculty of Educational Sciences, year: 2013, </a:t>
            </a:r>
            <a:r>
              <a:rPr lang="en-GB" sz="1800" dirty="0" err="1">
                <a:solidFill>
                  <a:schemeClr val="tx1"/>
                </a:solidFill>
              </a:rPr>
              <a:t>vol</a:t>
            </a:r>
            <a:r>
              <a:rPr lang="en-GB" sz="1800" dirty="0">
                <a:solidFill>
                  <a:schemeClr val="tx1"/>
                </a:solidFill>
              </a:rPr>
              <a:t>: 46, no: 1, 89-109.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1800" dirty="0" err="1">
                <a:solidFill>
                  <a:schemeClr val="tx1"/>
                </a:solidFill>
              </a:rPr>
              <a:t>Brahim</a:t>
            </a:r>
            <a:r>
              <a:rPr lang="en-GB" sz="1800" dirty="0">
                <a:solidFill>
                  <a:schemeClr val="tx1"/>
                </a:solidFill>
              </a:rPr>
              <a:t>. S. B. (2016. January, 29). The Impact of Online Advertising on </a:t>
            </a:r>
            <a:r>
              <a:rPr lang="en-GB" sz="1800" dirty="0" err="1">
                <a:solidFill>
                  <a:schemeClr val="tx1"/>
                </a:solidFill>
              </a:rPr>
              <a:t>TunisianConsumers</a:t>
            </a:r>
            <a:r>
              <a:rPr lang="en-GB" sz="1800" dirty="0">
                <a:solidFill>
                  <a:schemeClr val="tx1"/>
                </a:solidFill>
              </a:rPr>
              <a:t>’ Purchase Intention. Journal of Marketing Research &amp; Case Studies. Tunis. Tunisia. Sourced from: http://www.ibimapublishing.com/journals/JMRCS/jmrcs.html.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1800" dirty="0" err="1">
                <a:solidFill>
                  <a:schemeClr val="tx1"/>
                </a:solidFill>
              </a:rPr>
              <a:t>Daka</a:t>
            </a:r>
            <a:r>
              <a:rPr lang="en-GB" sz="1800" dirty="0">
                <a:solidFill>
                  <a:schemeClr val="tx1"/>
                </a:solidFill>
              </a:rPr>
              <a:t>. C. G and Phiri. J. (2019. March). Factors Driving the Adoption of E-banking Services Based on the UTAUT Model. International Journal of Business and Management; Vol. 14, No. 6; 2019.  </a:t>
            </a:r>
            <a:r>
              <a:rPr lang="en-GB" sz="1800" dirty="0">
                <a:solidFill>
                  <a:schemeClr val="tx1"/>
                </a:solidFill>
                <a:hlinkClick r:id="rId2"/>
              </a:rPr>
              <a:t>https://doi.org/10.5539/ijbm.v14n6p43</a:t>
            </a:r>
            <a:r>
              <a:rPr lang="en-GB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2CF3-79DA-4FD7-92C8-684048778C6E}" type="slidenum">
              <a:rPr lang="en-GB" smtClean="0"/>
              <a:pPr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3365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985</Words>
  <Application>Microsoft Office PowerPoint</Application>
  <PresentationFormat>On-screen Show (4:3)</PresentationFormat>
  <Paragraphs>115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Unicode MS</vt:lpstr>
      <vt:lpstr>Calibri</vt:lpstr>
      <vt:lpstr>PMingLiU</vt:lpstr>
      <vt:lpstr>Times New Roman</vt:lpstr>
      <vt:lpstr>Wingdings</vt:lpstr>
      <vt:lpstr>Office Theme</vt:lpstr>
      <vt:lpstr>THE UNIVERSITY OF ZAMBIA School of Natural Sciences Department of Computing and Informatics </vt:lpstr>
      <vt:lpstr>COMPUTER SCIENCE  4TH YEAR PROJECT PRESENTATION</vt:lpstr>
      <vt:lpstr>PRESENTATION OUTLINE</vt:lpstr>
      <vt:lpstr>INTRODUCTION</vt:lpstr>
      <vt:lpstr>BACKGROUND OF THE STUDY</vt:lpstr>
      <vt:lpstr>STATEMENT OF THE PROBLEM</vt:lpstr>
      <vt:lpstr>AIM OF THE STUDY</vt:lpstr>
      <vt:lpstr>RESEARCH OBJECTIVES</vt:lpstr>
      <vt:lpstr>RESEARCH QUESTIONS</vt:lpstr>
      <vt:lpstr>LITERATURE REVIEW (1/3)</vt:lpstr>
      <vt:lpstr>LITERATURE REVIEW (2/3)</vt:lpstr>
      <vt:lpstr>LITERATURE REVIEW (3/3)</vt:lpstr>
      <vt:lpstr>RESEARCH METHODOLOGY (1/4)</vt:lpstr>
      <vt:lpstr>RESEARCH METHODOLOGY (2/4)</vt:lpstr>
      <vt:lpstr>RESEARCH METHODOLOGY (3/4)</vt:lpstr>
      <vt:lpstr>RESEARCH METHODOLOGY (4/4)</vt:lpstr>
      <vt:lpstr>RESULTS AND DISCUSSION (1/4)</vt:lpstr>
      <vt:lpstr>RESULTS AND DISCUSSION (2/4)</vt:lpstr>
      <vt:lpstr>RESULTS AND DISCUSSION (3/4)</vt:lpstr>
      <vt:lpstr>RESULTS AND DISCUSSION (4/4)</vt:lpstr>
      <vt:lpstr>CONCLUSION</vt:lpstr>
      <vt:lpstr>RECOMMENDATIONS</vt:lpstr>
      <vt:lpstr>REFERNCES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UNIVERSITY OF ZAMBIA Graduate School of Business</dc:title>
  <dc:creator>Sasscal</dc:creator>
  <cp:lastModifiedBy>Jackson Phiri</cp:lastModifiedBy>
  <cp:revision>138</cp:revision>
  <dcterms:created xsi:type="dcterms:W3CDTF">2017-03-27T04:32:14Z</dcterms:created>
  <dcterms:modified xsi:type="dcterms:W3CDTF">2026-09-23T06:06:18Z</dcterms:modified>
</cp:coreProperties>
</file>