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Default Extension="png" ContentType="image/png"/>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25"/>
  </p:notesMasterIdLst>
  <p:sldIdLst>
    <p:sldId id="256" r:id="rId2"/>
    <p:sldId id="257" r:id="rId3"/>
    <p:sldId id="258" r:id="rId4"/>
    <p:sldId id="259" r:id="rId5"/>
    <p:sldId id="278" r:id="rId6"/>
    <p:sldId id="281" r:id="rId7"/>
    <p:sldId id="272" r:id="rId8"/>
    <p:sldId id="273" r:id="rId9"/>
    <p:sldId id="280" r:id="rId10"/>
    <p:sldId id="282" r:id="rId11"/>
    <p:sldId id="283" r:id="rId12"/>
    <p:sldId id="299" r:id="rId13"/>
    <p:sldId id="276" r:id="rId14"/>
    <p:sldId id="300" r:id="rId15"/>
    <p:sldId id="301" r:id="rId16"/>
    <p:sldId id="307" r:id="rId17"/>
    <p:sldId id="900" r:id="rIdWorkflow35"/>
    <p:sldId id="901" r:id="rIdWorkflow36"/>
    <p:sldId id="902" r:id="rIdWorkflow37"/>
    <p:sldId id="903" r:id="rIdWorkflow38"/>
    <p:sldId id="904" r:id="rIdWorkflow39"/>
    <p:sldId id="303" r:id="rId18"/>
    <p:sldId id="304" r:id="rId19"/>
    <p:sldId id="305" r:id="rId20"/>
    <p:sldId id="306" r:id="rId21"/>
    <p:sldId id="400" r:id="rIdWorkflow24"/>
    <p:sldId id="401" r:id="rIdWorkflow25"/>
    <p:sldId id="402" r:id="rIdWorkflow26"/>
    <p:sldId id="403" r:id="rIdWorkflow27"/>
    <p:sldId id="404" r:id="rIdWorkflow28"/>
    <p:sldId id="405" r:id="rIdWorkflow29"/>
    <p:sldId id="406" r:id="rIdWorkflow30"/>
    <p:sldId id="407" r:id="rIdWorkflow31"/>
    <p:sldId id="408" r:id="rIdWorkflow32"/>
    <p:sldId id="409" r:id="rIdWorkflow33"/>
    <p:sldId id="410" r:id="rIdWorkflow34"/>
    <p:sldId id="290" r:id="rId22"/>
    <p:sldId id="295" r:id="rId23"/>
    <p:sldId id="296" r:id="rId24"/>
    <p:sldId id="1500" r:id="rIdFullPage40"/>
    <p:sldId id="1501" r:id="rIdFullPage41"/>
    <p:sldId id="1502" r:id="rIdFullPage42"/>
    <p:sldId id="1503" r:id="rIdFullPage43"/>
    <p:sldId id="1504" r:id="rIdFullPage44"/>
    <p:sldId id="1505" r:id="rIdFullPage45"/>
    <p:sldId id="1506" r:id="rIdFullPage46"/>
    <p:sldId id="1507" r:id="rIdFullPage47"/>
    <p:sldId id="1508" r:id="rIdFullPage48"/>
    <p:sldId id="1509" r:id="rIdFullPage49"/>
    <p:sldId id="1510" r:id="rIdFullPage50"/>
    <p:sldId id="1511" r:id="rIdFullPage51"/>
    <p:sldId id="1512" r:id="rIdFullPage52"/>
    <p:sldId id="1513" r:id="rIdFullPage53"/>
    <p:sldId id="1514" r:id="rIdFullPage54"/>
    <p:sldId id="1515" r:id="rIdFullPage55"/>
    <p:sldId id="1516" r:id="rIdFullPage56"/>
    <p:sldId id="1517" r:id="rIdFullPage57"/>
    <p:sldId id="1518" r:id="rIdFullPage58"/>
    <p:sldId id="1519" r:id="rIdFullPage59"/>
    <p:sldId id="1520" r:id="rIdFullPage60"/>
    <p:sldId id="1521" r:id="rIdFullPage61"/>
    <p:sldId id="1522" r:id="rIdFullPage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 d="1"/>
        <a:sy n="1" d="1"/>
      </p:scale>
      <p:origin x="0" y="0"/>
    </p:cViewPr>
  </p:notesTextViewPr>
  <p:sorterViewPr>
    <p:cViewPr>
      <p:scale>
        <a:sx n="100" d="100"/>
        <a:sy n="100" d="100"/>
      </p:scale>
      <p:origin x="0" y="-246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Workflow24" Type="http://schemas.openxmlformats.org/officeDocument/2006/relationships/slide" Target="slides/slide24.xml"/><Relationship Id="rIdWorkflow25" Type="http://schemas.openxmlformats.org/officeDocument/2006/relationships/slide" Target="slides/slide25.xml"/><Relationship Id="rIdWorkflow26" Type="http://schemas.openxmlformats.org/officeDocument/2006/relationships/slide" Target="slides/slide26.xml"/><Relationship Id="rIdWorkflow27" Type="http://schemas.openxmlformats.org/officeDocument/2006/relationships/slide" Target="slides/slide27.xml"/><Relationship Id="rIdWorkflow28" Type="http://schemas.openxmlformats.org/officeDocument/2006/relationships/slide" Target="slides/slide28.xml"/><Relationship Id="rIdWorkflow29" Type="http://schemas.openxmlformats.org/officeDocument/2006/relationships/slide" Target="slides/slide29.xml"/><Relationship Id="rIdWorkflow30" Type="http://schemas.openxmlformats.org/officeDocument/2006/relationships/slide" Target="slides/slide30.xml"/><Relationship Id="rIdWorkflow31" Type="http://schemas.openxmlformats.org/officeDocument/2006/relationships/slide" Target="slides/slide31.xml"/><Relationship Id="rIdWorkflow32" Type="http://schemas.openxmlformats.org/officeDocument/2006/relationships/slide" Target="slides/slide32.xml"/><Relationship Id="rIdWorkflow33" Type="http://schemas.openxmlformats.org/officeDocument/2006/relationships/slide" Target="slides/slide33.xml"/><Relationship Id="rIdWorkflow34" Type="http://schemas.openxmlformats.org/officeDocument/2006/relationships/slide" Target="slides/slide34.xml"/><Relationship Id="rIdWorkflow35" Type="http://schemas.openxmlformats.org/officeDocument/2006/relationships/slide" Target="slides/slide35.xml"/><Relationship Id="rIdWorkflow36" Type="http://schemas.openxmlformats.org/officeDocument/2006/relationships/slide" Target="slides/slide36.xml"/><Relationship Id="rIdWorkflow37" Type="http://schemas.openxmlformats.org/officeDocument/2006/relationships/slide" Target="slides/slide37.xml"/><Relationship Id="rIdWorkflow38" Type="http://schemas.openxmlformats.org/officeDocument/2006/relationships/slide" Target="slides/slide38.xml"/><Relationship Id="rIdWorkflow39" Type="http://schemas.openxmlformats.org/officeDocument/2006/relationships/slide" Target="slides/slide39.xml"/><Relationship Id="rIdFullPage40" Type="http://schemas.openxmlformats.org/officeDocument/2006/relationships/slide" Target="slides/slide40.xml"/><Relationship Id="rIdFullPage41" Type="http://schemas.openxmlformats.org/officeDocument/2006/relationships/slide" Target="slides/slide41.xml"/><Relationship Id="rIdFullPage42" Type="http://schemas.openxmlformats.org/officeDocument/2006/relationships/slide" Target="slides/slide42.xml"/><Relationship Id="rIdFullPage43" Type="http://schemas.openxmlformats.org/officeDocument/2006/relationships/slide" Target="slides/slide43.xml"/><Relationship Id="rIdFullPage44" Type="http://schemas.openxmlformats.org/officeDocument/2006/relationships/slide" Target="slides/slide44.xml"/><Relationship Id="rIdFullPage45" Type="http://schemas.openxmlformats.org/officeDocument/2006/relationships/slide" Target="slides/slide45.xml"/><Relationship Id="rIdFullPage46" Type="http://schemas.openxmlformats.org/officeDocument/2006/relationships/slide" Target="slides/slide46.xml"/><Relationship Id="rIdFullPage47" Type="http://schemas.openxmlformats.org/officeDocument/2006/relationships/slide" Target="slides/slide47.xml"/><Relationship Id="rIdFullPage48" Type="http://schemas.openxmlformats.org/officeDocument/2006/relationships/slide" Target="slides/slide48.xml"/><Relationship Id="rIdFullPage49" Type="http://schemas.openxmlformats.org/officeDocument/2006/relationships/slide" Target="slides/slide49.xml"/><Relationship Id="rIdFullPage50" Type="http://schemas.openxmlformats.org/officeDocument/2006/relationships/slide" Target="slides/slide50.xml"/><Relationship Id="rIdFullPage51" Type="http://schemas.openxmlformats.org/officeDocument/2006/relationships/slide" Target="slides/slide51.xml"/><Relationship Id="rIdFullPage52" Type="http://schemas.openxmlformats.org/officeDocument/2006/relationships/slide" Target="slides/slide52.xml"/><Relationship Id="rIdFullPage53" Type="http://schemas.openxmlformats.org/officeDocument/2006/relationships/slide" Target="slides/slide53.xml"/><Relationship Id="rIdFullPage54" Type="http://schemas.openxmlformats.org/officeDocument/2006/relationships/slide" Target="slides/slide54.xml"/><Relationship Id="rIdFullPage55" Type="http://schemas.openxmlformats.org/officeDocument/2006/relationships/slide" Target="slides/slide55.xml"/><Relationship Id="rIdFullPage56" Type="http://schemas.openxmlformats.org/officeDocument/2006/relationships/slide" Target="slides/slide56.xml"/><Relationship Id="rIdFullPage57" Type="http://schemas.openxmlformats.org/officeDocument/2006/relationships/slide" Target="slides/slide57.xml"/><Relationship Id="rIdFullPage58" Type="http://schemas.openxmlformats.org/officeDocument/2006/relationships/slide" Target="slides/slide58.xml"/><Relationship Id="rIdFullPage59" Type="http://schemas.openxmlformats.org/officeDocument/2006/relationships/slide" Target="slides/slide59.xml"/><Relationship Id="rIdFullPage60" Type="http://schemas.openxmlformats.org/officeDocument/2006/relationships/slide" Target="slides/slide60.xml"/><Relationship Id="rIdFullPage61" Type="http://schemas.openxmlformats.org/officeDocument/2006/relationships/slide" Target="slides/slide61.xml"/><Relationship Id="rIdFullPage62"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AE6E0B-A306-45D3-8073-722D8D1E7BB2}" type="datetimeFigureOut">
              <a:rPr lang="en-ZA" smtClean="0"/>
              <a:t>2026/09/23</a:t>
            </a:fld>
            <a:endParaRPr lang="en-Z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E43AD4-79F1-4093-98A1-9B3B728952FA}" type="slidenum">
              <a:rPr lang="en-ZA" smtClean="0"/>
              <a:t>‹#›</a:t>
            </a:fld>
            <a:endParaRPr lang="en-ZA"/>
          </a:p>
        </p:txBody>
      </p:sp>
    </p:spTree>
    <p:extLst>
      <p:ext uri="{BB962C8B-B14F-4D97-AF65-F5344CB8AC3E}">
        <p14:creationId xmlns:p14="http://schemas.microsoft.com/office/powerpoint/2010/main" val="3558276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present our final-year project checkpoint dated 16 October 2026.</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are Chitundu Milimbo and Charles Hangoma. Our supervisor is Professor Jackson Phiri. The proposal used Django and MySQL. We adopted the repository locked stack: Next.js, NestJS, TypeScript and PostgreSQL.</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Primary source [1]: https://docs.moodle.org/503/en/Using_web_services and https://moodledev.io/docs/5.0/apis/subsystems/external. Accessed 16 October 2026.</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Primary source [2]: https://www.imsglobal.org/spec/lti/v1p3/. LTI 1.3 Final Release, 2019. Our present demonstrator does not claim a working LTI launch.</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Primary source [3]: NIST AI 100-1 (2023), https://doi.org/10.6028/NIST.AI.100-1 and https://www.nist.gov/itl/ai-risk-management-framework. Our AI assistant is a planned capability, not a tested deployed service.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Architecture view from our implementation-reviewed diagram sources. Next.js serves the web interface. A NestJS modular monolith handles business operations. PostgreSQL stores authoritative records and outbox evidence. Moodle simulator delivery and separate MoodleCloud provisioning are different execution paths. Automatic live delivery remains incomplete.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Evidence sources: current checkpoint auth browser log: .local-release/auth-browser-20261016.log, four passed browser checks. Six connected workspace database checks passed in isolation. Prior release CI 38690707307 passed 137 main browser and 26 Moodle deferral tests. These results belong to different runs and are not a combined test total. The whole final checkpoint suite has not passed as one release run.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Our fully loaded local student portal, captured 16 October 2026 using the connected local API and isolated review database. It shows a completed registration and three courses. The worker handoff shown is the local simulator pathway, not automatic live MoodleCloud delivery. The local checkpoint remains separate from the earlier deployed release.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Controlled browser fixture screenshot showing the personal timetable interface. The fixture demonstrates interface layout. Separate connected workflow evidence covers nine prepared registrations and a 12-session master timetable. This image itself does not establish a live MoodleCloud timetable.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Provisioning evidence records 12 visible MoodleCloud course shells, four generated accounts and 48 memberships. The user confirmed normal Moodle learner login shows all 12 courses and a course opens. This is separate provisioning, not proof of automatic bidirectional SIS delivery, grade return or SSO.</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Prepared supervisor review dataset: nine registration transactions and a 12-session master timetable. Published student projections show sessions belonging to registered courses. Latest sidebar/auth UI changes remain a local checkpoint pending final integration verification.</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 explain the design and implementation described on this slide. Our evidence is the project handbook and implementation checkpoint dated 16 October 2026.</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[1] https://docs.moodle.org/503/en/Using_web_services. [2] https://www.imsglobal.org/spec/lti/v1p3/. [3] https://doi.org/10.6028/NIST.AI.100-1. Internal evidence: repository handbook, docs/supervisor/VERIFICATION.json and our implementation logs. We excluded unverifiable placeholder citations in our original proposal.</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Programme catalogue search, filters and programme cards.
Presentation view: Complete uncropped source capture. Full-width numbered continuation views in the appendix preserve every part of long pages.
Capture source: /home/hangoma/SIS-INTEGRATED-WITH-MOODLE/.worktree/phase7-completion/.worktree/github-release-20261012/.local-release/portal-all-ui-discover-1672.png
Evidence type: Connected local API and isolated review database; .local-release/portal-all-ui-review.mjs
The captured state shows the workflow at the time of capture. It does not establish completion of every later transition.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Applicant personal-details form, persisted name and draft progress; supporting-documents screenshot retained separately.
Presentation view: Complete uncropped source capture. Full-width numbered continuation views in the appendix preserve every part of long pages.
Capture source: Fresh connected local capture 16 October 2026; isolated supervisor review database
Evidence type: New createApplicant fixture; normal discovery/start application, sign-in, personal-details save and return navigation. No network mocks; saved values verified after navigation.
The captured state shows the workflow at the time of capture. It does not establish completion of every later transition.</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Successful submission, immutable receipt and download action; mobile capture.
Presentation view: Complete uncropped source capture. Full-width numbered continuation views in the appendix preserve every part of long pages.
Capture source: /home/hangoma/SIS-INTEGRATED-WITH-MOODLE/.worktree/phase7-completion/.worktree/github-release-20261012/.local-release/browser-evidence-38447432657/test-results/applicant-receipt-mobile.png
Evidence type: Connected browser integration test applicant.spec.ts; successful submission confirmed after lost-response recovery.
The captured state shows the workflow at the time of capture. It does not establish completion of every later transition.</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Claimable application queue and staff ownership workflow.
Presentation view: Complete uncropped source capture. Full-width numbered continuation views in the appendix preserve every part of long pages.
Capture source: /home/hangoma/SIS-INTEGRATED-WITH-MOODLE/.worktree/phase7-completion/.worktree/github-release-20261012/.local-release/browser-evidence-38447432657/test-results/ui-admissions-queue-1440.png
Evidence type: Connected browser integration test ui-admissions-workspace.visual.spec.ts; actual application submitted and staff signed in.
The captured state shows the workflow at the time of capture. It does not establish completion of every later transition.</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Application evidence, favourable recommendation, decision form and case history. Decision has not yet been released in this capture.
Presentation view: Complete uncropped source capture. Full-width numbered continuation views in the appendix preserve every part of long pages.
Capture source: /home/hangoma/SIS-INTEGRATED-WITH-MOODLE/.worktree/phase7-completion/.worktree/github-release-20261012/.local-release/browser-evidence-38447432657/test-results/ui-admissions-approver-case-1440.png
Evidence type: Connected browser integration test ui-admissions-workspace.visual.spec.ts; independent approver after recorded reviewer recommendation.
The captured state shows the workflow at the time of capture. It does not establish completion of every later transition.</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Editable course plan with required courses, search and sorting. Saving a draft is separate from formal submission.
Presentation view: Full screenshot.
Capture source: Local review application http://127.0.0.1:3160 backed by isolated sis_supervisor_review_20261016 database
Evidence type: Fresh connected capture on16October2026; isolated supervisor review database; new generated student; no API mocks.
The captured state shows the workflow at the time of capture. It does not establish completion of every later transition.</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Itemised invoice, statement and payment routes; clearance pending, no live payment claim.
Presentation view: Complete uncropped source capture. Full-width numbered continuation views in the appendix preserve every part of long pages.
Capture source: /home/hangoma/SIS-INTEGRATED-WITH-MOODLE/.worktree/phase7-completion/.worktree/github-release-20261012/.local-release/portal-all-ui-student-finance-1672.png
Evidence type: Connected API; .local-release/portal-all-ui-review.mjs creates student and assesses synthetic charges.
The captured state shows the workflow at the time of capture. It does not establish completion of every later transition.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Healthy simulator connection and mappings/reconciliation/maintenance workspaces; zero recorded shells in this screenshot.
Presentation view: Full screenshot.
Capture source: /home/hangoma/SIS-INTEGRATED-WITH-MOODLE/.worktree/phase7-completion/.worktree/github-release-20261012/.local-release/staff-all-ui-moodle-1672.png
Evidence type: Connected API; .local-release/staff-all-ui-review.mjs; simulator mode.
The captured state shows the workflow at the time of capture. It does not establish completion of every later transition.</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Published result display and version history. Does not evidence a completed staging-to-release workflow.
Presentation view: Full screenshot.
Capture source: /home/hangoma/SIS-INTEGRATED-WITH-MOODLE/.worktree/phase7-completion/.worktree/github-release-20261012/.local-release/portal-all-ui-student-results-1672.png
Evidence type: Connected API rendering; .local-release/portal-all-ui-review.mjs directly seeds OfficialResultVersion review rows.
The captured state shows the workflow at the time of capture. It does not establish completion of every later transition.</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Week view with dated sessions, venues, course filter, list alternative and changes.
Presentation view: Complete uncropped source capture. Full-width numbered continuation views in the appendix preserve every part of long pages.
Capture source: /home/hangoma/SIS-INTEGRATED-WITH-MOODLE/.worktree/phase7-completion/.worktree/github-release-20261012/.local-release/browser-evidence-38447432657/test-results/student-timetable-availabi-59770-ords-and-a-list-alternative/published-timetable-week-desktop.png
Evidence type: Controlled API-response UI browser test student-timetable-availability.spec.ts; not connected publication evidence.
The captured state shows the workflow at the time of capture. It does not establish completion of every later transition.</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Persisted security events with actor, role and outcome. Companion operations dashboard is included in the folder.
Presentation view: Full screenshot.
Capture source: Local review application http://127.0.0.1:3160 backed by isolated sis_supervisor_review_20261016 database
Evidence type: Fresh connected capture on16October2026; SYSADMIN workspace; actual local API and PostgreSQL records, no mocks.
The captured state shows the workflow at the time of capture. It does not establish completion of every later transition.</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SIS decisions commit before external delivery.
Presentation view: Full screenshot.
Capture source: Selected presentation view derived from the source-audited project diagrams included in the report and diagram atlas. We show the modular API, shared database, worker, simulator and separate cloud demonstration. Dashed live path is not a claim of completed automatic live delivery.
Evidence type: Software engineering design of the implemented checkpoint; selected scope, with unfinished live integration labelled.
The captured state shows the workflow at the time of capture. It does not establish completion of every later transition.</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Solid: schema relation. Dashed: scalar-key lookup.
Presentation view: Full screenshot.
Capture source: Selected presentation view derived from the source-audited project diagrams included in the report and diagram atlas. Selected domain entities and multiplicities. ProgrammeAttempt to InstitutionalRegistration is a scalar-key service lookup, not a declared Prisma foreign key. Other fields and relations are omitted for presentation clarity.
Evidence type: Software engineering design of the implemented checkpoint; selected scope, with unfinished live integration labelled.
The captured state shows the workflow at the time of capture. It does not establish completion of every later transition.</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A Moodle delay does not undo a valid registration.
Presentation view: Full screenshot.
Capture source: Selected presentation view derived from the source-audited project diagrams included in the report and diagram atlas. Selected sequence after an authorised request. The real implementation includes controller dispatch and more policy, replay and transaction checks. Local evidence commits before separate worker delivery. No automatic live delivery is claimed.
Evidence type: Software engineering design of the implemented checkpoint; selected scope, with unfinished live integration labelled.
The captured state shows the workflow at the time of capture. It does not establish completion of every later transition.</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Controllers call services; adapters isolate delivery.
Presentation view: Full screenshot.
Capture source: Selected presentation view derived from the source-audited project diagrams included in the report and diagram atlas. Selected actual constructor dependencies and adapter realisation. Other dependencies such as FinanceService and OpsService are omitted for presentation. LiveMoodleAdapter validates connection but refuses unsupported write operations.
Evidence type: Software engineering design of the implemented checkpoint; selected scope, with unfinished live integration labelled.
The captured state shows the workflow at the time of capture. It does not establish completion of every later transition.</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Independent review precedes publication.
Presentation view: Full screenshot.
Capture source: Selected presentation view derived from the source-audited project diagrams included in the report and diagram atlas. Selected activity flow for the synthetic timetable workflow, including validation, corrected versions, independent review, atomic student projections and preservation of prior publication on rejection. Detailed credentials and final source rechecks are in the full engineering record.
Evidence type: Software engineering design of the implemented checkpoint; selected scope, with unfinished live integration labelled.
The captured state shows the workflow at the time of capture. It does not establish completion of every later transition.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4.1-programme-catalogue.png. Evidence: Connected local API and isolated review database; .local-release/portal-all-ui-review.mjs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4.1-programme-catalogue.png. Evidence: Connected local API and isolated review database; .local-release/portal-all-ui-review.mjs</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4.2-application-form-saved-draft.png. Evidence: New createApplicant fixture; normal discovery/start application, sign-in, personal-details save and return navigation. No network mocks; saved values verified after navigation.</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4.2-application-form-saved-draft.png. Evidence: New createApplicant fixture; normal discovery/start application, sign-in, personal-details save and return navigation. No network mocks; saved values verified after navigation.</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4.3-application-submission-receipt.png. Evidence: Connected browser integration test applicant.spec.ts; successful submission confirmed after lost-response recovery.</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4.3-application-submission-receipt.png. Evidence: Connected browser integration test applicant.spec.ts; successful submission confirmed after lost-response recovery.</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4.4-admissions-queue.png. Evidence: Connected browser integration test ui-admissions-workspace.visual.spec.ts; actual application submitted and staff signed in.</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4.4-admissions-queue.png. Evidence: Connected browser integration test ui-admissions-workspace.visual.spec.ts; actual application submitted and staff signed in.</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4.5-admissions-review-and-decision.png. Evidence: Connected browser integration test ui-admissions-workspace.visual.spec.ts; independent approver after recorded reviewer recommendation.</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4.5-admissions-review-and-decision.png. Evidence: Connected browser integration test ui-admissions-workspace.visual.spec.ts; independent approver after recorded reviewer recommendation.</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4.5-admissions-review-and-decision.png. Evidence: Connected browser integration test ui-admissions-workspace.visual.spec.ts; independent approver after recorded reviewer recommendation.</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4.5-admissions-review-and-decision.png. Evidence: Connected browser integration test ui-admissions-workspace.visual.spec.ts; independent approver after recorded reviewer recommendation.</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4.6-course-selection-draft.png. Evidence: Fresh connected capture on16October2026; isolated supervisor review database; new generated student; no API mocks.</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4.6-course-selection-draft.png. Evidence: Fresh connected capture on16October2026; isolated supervisor review database; new generated student; no API mocks.</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4.6-course-selection-draft.png. Evidence: Fresh connected capture on16October2026; isolated supervisor review database; new generated student; no API mocks.</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4.7-student-finance.png. Evidence: Connected API; .local-release/portal-all-ui-review.mjs creates student and assesses synthetic charges.</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4.7-student-finance.png. Evidence: Connected API; .local-release/portal-all-ui-review.mjs creates student and assesses synthetic charges.</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4.10-student-timetable-week.png. Evidence: Controlled API-response UI browser test student-timetable-availability.spec.ts; not connected publication evidence.</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4.10-student-timetable-week.png. Evidence: Controlled API-response UI browser test student-timetable-availability.spec.ts; not connected publication evidence.</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4.10-student-timetable-week.png. Evidence: Controlled API-response UI browser test student-timetable-availability.spec.ts; not connected publication evidence.</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4.11-connected-audit-trail.png. Evidence: Fresh connected capture on16October2026; SYSADMIN workspace; actual local API and PostgreSQL records, no mocks.</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4.11-connected-audit-trail.png. Evidence: Fresh connected capture on16October2026; SYSADMIN workspace; actual local API and PostgreSQL records, no mocks.</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eaker notes"/>
          <p:cNvSpPr/>
          <p:nvPr>
            <p:ph type="body" idx="1"/>
          </p:nvPr>
        </p:nvSpPr>
        <p:spPr/>
        <p:txBody>
          <a:bodyPr/>
          <a:lstStyle/>
          <a:p>
            <a:r>
              <a:t>Optional enlarged reference view. The complete uncropped page appears in the main presentation. These numbered overlapping continuations cover the original image from top to bottom without omitting either side. Source: 4.11-connected-audit-trail.png. Evidence: Fresh connected capture on16October2026; SYSADMIN workspace; actual local API and PostgreSQL records, no mocks.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5DB2EAB6-2202-4AC0-888B-D216B927408A}" type="datetime1">
              <a:rPr lang="en-GB" smtClean="0"/>
              <a:t>23/09/2026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1439244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4060FDC-A945-4BDE-ACC6-9004C4FFCF5F}" type="datetime1">
              <a:rPr lang="en-GB" smtClean="0"/>
              <a:t>23/09/2026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3128119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ACD538-9345-4D40-95B0-8D6682B90E38}" type="datetime1">
              <a:rPr lang="en-GB" smtClean="0"/>
              <a:t>23/09/2026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2514874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769033DB-E391-4B64-86D2-F4ED3A91BC52}" type="datetime1">
              <a:rPr lang="en-GB" smtClean="0"/>
              <a:t>23/09/2026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4070526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802BCFA-81E1-4EAF-A4E4-15DB9A26C5EF}" type="datetime1">
              <a:rPr lang="en-GB" smtClean="0"/>
              <a:t>23/09/2026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2370106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7354DD87-092F-4EF6-AFD1-7872E584DBF4}" type="datetime1">
              <a:rPr lang="en-GB" smtClean="0"/>
              <a:t>23/09/2026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3663722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E9CDF1-BA18-418D-9C92-AB6B015E21E0}" type="datetime1">
              <a:rPr lang="en-GB" smtClean="0"/>
              <a:t>23/09/2026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3562164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E2D3F3-34D7-42B4-823C-4C281A782914}" type="datetime1">
              <a:rPr lang="en-GB" smtClean="0"/>
              <a:t>23/09/2026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3317942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C08651-8BD4-4ABD-BA31-58066C7C3139}" type="datetime1">
              <a:rPr lang="en-GB" smtClean="0"/>
              <a:t>23/09/2026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195357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ABCE42-2BDD-4AC7-898F-A440EB5D34C1}" type="datetime1">
              <a:rPr lang="en-GB" smtClean="0"/>
              <a:t>23/09/2026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1541983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86A6291-82E5-4688-BCFE-3F83E278D61D}" type="datetime1">
              <a:rPr lang="en-GB" smtClean="0"/>
              <a:t>23/09/2026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05B2CF3-79DA-4FD7-92C8-684048778C6E}" type="slidenum">
              <a:rPr lang="en-GB" smtClean="0"/>
              <a:pPr/>
              <a:t>‹#›</a:t>
            </a:fld>
            <a:endParaRPr lang="en-GB"/>
          </a:p>
        </p:txBody>
      </p:sp>
    </p:spTree>
    <p:extLst>
      <p:ext uri="{BB962C8B-B14F-4D97-AF65-F5344CB8AC3E}">
        <p14:creationId xmlns:p14="http://schemas.microsoft.com/office/powerpoint/2010/main" val="4056345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188015-4784-4439-BF24-E1D0FCA5D34B}" type="datetime1">
              <a:rPr lang="en-GB" smtClean="0"/>
              <a:t>23/09/2026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5B2CF3-79DA-4FD7-92C8-684048778C6E}" type="slidenum">
              <a:rPr lang="en-GB" smtClean="0"/>
              <a:pPr/>
              <a:t>‹#›</a:t>
            </a:fld>
            <a:endParaRPr lang="en-GB"/>
          </a:p>
        </p:txBody>
      </p:sp>
    </p:spTree>
    <p:extLst>
      <p:ext uri="{BB962C8B-B14F-4D97-AF65-F5344CB8AC3E}">
        <p14:creationId xmlns:p14="http://schemas.microsoft.com/office/powerpoint/2010/main" val="1170284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7.xml"/><Relationship Id="rIdLoadedHome" Type="http://schemas.openxmlformats.org/officeDocument/2006/relationships/image" Target="../media/loaded-student-home.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Evidence" Type="http://schemas.openxmlformats.org/officeDocument/2006/relationships/image" Target="../media/defence-evidence-18.png"/><Relationship Id="rIdNotes"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doi.org/10.5539/ijbm.v14n6p43" TargetMode="External"/><Relationship Id="rId1" Type="http://schemas.openxmlformats.org/officeDocument/2006/relationships/slideLayout" Target="../slideLayouts/slideLayout1.xml"/><Relationship Id="rIdNotes"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01.png"/><Relationship Id="rIdWorkflowNotes"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02.png"/><Relationship Id="rIdWorkflowNotes"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03.png"/><Relationship Id="rIdWorkflowNotes"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04.png"/><Relationship Id="rIdWorkflowNotes"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05.png"/><Relationship Id="rIdWorkflowNotes"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06.png"/><Relationship Id="rIdWorkflowNotes"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07.png"/><Relationship Id="rIdWorkflowNotes"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08.png"/><Relationship Id="rIdWorkflowNotes"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09.png"/><Relationship Id="rIdWorkflowNotes"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10.png"/><Relationship Id="rIdWorkflowNotes"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workflow-11.png"/><Relationship Id="rIdWorkflowNotes"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engineering-01.png"/><Relationship Id="rIdWorkflowNotes"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engineering-02.png"/><Relationship Id="rIdWorkflowNotes"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engineering-03.png"/><Relationship Id="rIdWorkflowNotes"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engineering-04.png"/><Relationship Id="rIdWorkflowNotes"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WorkflowImage" Type="http://schemas.openxmlformats.org/officeDocument/2006/relationships/image" Target="../media/corrected-engineering-05.png"/><Relationship Id="rIdWorkflowNotes"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01.png"/><Relationship Id="rIdFullPageNotes"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02.png"/><Relationship Id="rIdFullPageNotes"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03.png"/><Relationship Id="rIdFullPageNotes"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04.png"/><Relationship Id="rIdFullPageNotes"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05.png"/><Relationship Id="rIdFullPageNotes"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06.png"/><Relationship Id="rIdFullPageNotes"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07.png"/><Relationship Id="rIdFullPageNotes"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08.png"/><Relationship Id="rIdFullPageNotes"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09.png"/><Relationship Id="rIdFullPageNotes"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10.png"/><Relationship Id="rIdFullPageNotes"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11.png"/><Relationship Id="rIdFullPageNotes"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12.png"/><Relationship Id="rIdFullPageNotes"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13.png"/><Relationship Id="rIdFullPageNotes"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14.png"/><Relationship Id="rIdFullPageNotes"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15.png"/><Relationship Id="rIdFullPageNotes"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16.png"/><Relationship Id="rIdFullPageNotes"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17.png"/><Relationship Id="rIdFullPageNotes"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18.png"/><Relationship Id="rIdFullPageNotes"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19.png"/><Relationship Id="rIdFullPageNotes"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20.png"/><Relationship Id="rIdFullPageNotes"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21.png"/><Relationship Id="rIdFullPageNotes"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22.png"/><Relationship Id="rIdFullPageNotes"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FullPageImage" Type="http://schemas.openxmlformats.org/officeDocument/2006/relationships/image" Target="../media/full-page-detail-23.png"/><Relationship Id="rIdFullPageNotes"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685800"/>
            <a:ext cx="8686800" cy="3070225"/>
          </a:xfrm>
        </p:spPr>
        <p:txBody>
          <a:bodyPr>
            <a:normAutofit/>
          </a:bodyPr>
          <a:lstStyle/>
          <a:p>
            <a:r>
              <a:rPr lang="en-GB" sz="5400" b="1" dirty="0"/>
              <a:t>THE UNIVERSITY OF ZAMBIA</a:t>
            </a:r>
            <a:br>
              <a:rPr lang="en-GB" sz="5400" b="1" dirty="0"/>
            </a:br>
            <a:r>
              <a:rPr lang="en-GB" sz="4900" b="1" dirty="0">
                <a:solidFill>
                  <a:schemeClr val="accent6">
                    <a:lumMod val="75000"/>
                  </a:schemeClr>
                </a:solidFill>
              </a:rPr>
              <a:t>School of Natural Sciences</a:t>
            </a:r>
            <a:br>
              <a:rPr lang="en-GB" sz="4900" b="1" dirty="0">
                <a:solidFill>
                  <a:schemeClr val="accent6">
                    <a:lumMod val="75000"/>
                  </a:schemeClr>
                </a:solidFill>
              </a:rPr>
            </a:br>
            <a:r>
              <a:rPr lang="en-GB" sz="3200" b="1" dirty="0">
                <a:solidFill>
                  <a:schemeClr val="tx2">
                    <a:lumMod val="60000"/>
                    <a:lumOff val="40000"/>
                  </a:schemeClr>
                </a:solidFill>
              </a:rPr>
              <a:t>Department of </a:t>
            </a:r>
            <a:r>
              <a:rPr lang="en-GB" sz="3200" b="1" dirty="0" smtClean="0">
                <a:solidFill>
                  <a:schemeClr val="tx2">
                    <a:lumMod val="60000"/>
                    <a:lumOff val="40000"/>
                  </a:schemeClr>
                </a:solidFill>
              </a:rPr>
              <a:t>Computing and Informatics </a:t>
            </a:r>
            <a:endParaRPr lang="en-GB" sz="5400" b="1" dirty="0">
              <a:solidFill>
                <a:schemeClr val="tx2">
                  <a:lumMod val="60000"/>
                  <a:lumOff val="40000"/>
                </a:schemeClr>
              </a:solidFill>
            </a:endParaRPr>
          </a:p>
        </p:txBody>
      </p:sp>
      <p:sp>
        <p:nvSpPr>
          <p:cNvPr id="3" name="Subtitle 2"/>
          <p:cNvSpPr>
            <a:spLocks noGrp="1"/>
          </p:cNvSpPr>
          <p:nvPr>
            <p:ph type="subTitle" idx="1"/>
          </p:nvPr>
        </p:nvSpPr>
        <p:spPr>
          <a:xfrm>
            <a:off x="990600" y="4572000"/>
            <a:ext cx="7162800" cy="990600"/>
          </a:xfrm>
        </p:spPr>
        <p:txBody>
          <a:bodyPr>
            <a:normAutofit fontScale="92500" lnSpcReduction="20000"/>
          </a:bodyPr>
          <a:lstStyle/>
          <a:p>
            <a:r>
              <a:rPr lang="en-GB" b="1" dirty="0">
                <a:solidFill>
                  <a:schemeClr val="tx1"/>
                </a:solidFill>
                <a:latin typeface="Arial" panose="020B0604020202020204" pitchFamily="34" charset="0"/>
                <a:cs typeface="Arial" panose="020B0604020202020204" pitchFamily="34" charset="0"/>
              </a:rPr>
              <a:t>4th Year Project Presentation</a:t>
            </a:r>
          </a:p>
          <a:p>
            <a:r>
              <a:rPr lang="en-GB" b="1" dirty="0" smtClean="0">
                <a:solidFill>
                  <a:schemeClr val="tx1"/>
                </a:solidFill>
                <a:latin typeface="Arial" panose="020B0604020202020204" pitchFamily="34" charset="0"/>
                <a:cs typeface="Arial" panose="020B0604020202020204" pitchFamily="34" charset="0"/>
              </a:rPr>
              <a:t>16 October 2026</a:t>
            </a:r>
            <a:endParaRPr lang="en-GB" b="1" dirty="0">
              <a:solidFill>
                <a:schemeClr val="tx1"/>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05B2CF3-79DA-4FD7-92C8-684048778C6E}" type="slidenum">
              <a:rPr lang="en-GB" smtClean="0"/>
              <a:pPr/>
              <a:t>1</a:t>
            </a:fld>
            <a:endParaRPr lang="en-GB"/>
          </a:p>
        </p:txBody>
      </p:sp>
    </p:spTree>
    <p:extLst>
      <p:ext uri="{BB962C8B-B14F-4D97-AF65-F5344CB8AC3E}">
        <p14:creationId xmlns:p14="http://schemas.microsoft.com/office/powerpoint/2010/main" val="1447961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533400"/>
            <a:ext cx="8686800" cy="1524000"/>
          </a:xfrm>
        </p:spPr>
        <p:txBody>
          <a:bodyPr>
            <a:normAutofit fontScale="90000"/>
          </a:bodyPr>
          <a:lstStyle/>
          <a:p>
            <a:r>
              <a:rPr lang="en-GB" sz="5400" b="1" dirty="0"/>
              <a:t>COMPUTER SCIENCE </a:t>
            </a:r>
            <a:br>
              <a:rPr lang="en-GB" sz="5400" b="1" dirty="0"/>
            </a:br>
            <a:r>
              <a:rPr lang="en-GB" b="1" dirty="0"/>
              <a:t>4</a:t>
            </a:r>
            <a:r>
              <a:rPr lang="en-GB" b="1" baseline="30000" dirty="0"/>
              <a:t>TH</a:t>
            </a:r>
            <a:r>
              <a:rPr lang="en-GB" b="1" dirty="0"/>
              <a:t> YEAR PROJECT PRESENTATION</a:t>
            </a:r>
            <a:endParaRPr lang="en-GB" sz="5400" b="1" i="1" dirty="0"/>
          </a:p>
        </p:txBody>
      </p:sp>
      <p:sp>
        <p:nvSpPr>
          <p:cNvPr id="3" name="Subtitle 2"/>
          <p:cNvSpPr>
            <a:spLocks noGrp="1"/>
          </p:cNvSpPr>
          <p:nvPr>
            <p:ph type="subTitle" idx="1"/>
          </p:nvPr>
        </p:nvSpPr>
        <p:spPr>
          <a:xfrm>
            <a:off x="457200" y="4603750"/>
            <a:ext cx="8077200" cy="1568450"/>
          </a:xfrm>
        </p:spPr>
        <p:txBody>
          <a:bodyPr>
            <a:normAutofit lnSpcReduction="10000"/>
          </a:bodyPr>
          <a:lstStyle/>
          <a:p>
            <a:r>
              <a:rPr lang="en-GB" sz="3100" b="1" dirty="0">
                <a:solidFill>
                  <a:schemeClr val="tx1"/>
                </a:solidFill>
                <a:latin typeface="Arial" panose="020B0604020202020204" pitchFamily="34" charset="0"/>
                <a:cs typeface="Arial" panose="020B0604020202020204" pitchFamily="34" charset="0"/>
              </a:rPr>
              <a:t>Chitundu Milimbo and Charles Hangoma</a:t>
            </a:r>
          </a:p>
          <a:p>
            <a:r>
              <a:rPr lang="en-GB" sz="2600" b="1" dirty="0">
                <a:solidFill>
                  <a:schemeClr val="tx1"/>
                </a:solidFill>
                <a:latin typeface="Arial" panose="020B0604020202020204" pitchFamily="34" charset="0"/>
                <a:cs typeface="Arial" panose="020B0604020202020204" pitchFamily="34" charset="0"/>
              </a:rPr>
              <a:t>Supervisor: Professor Jackson Phiri</a:t>
            </a:r>
            <a:endParaRPr lang="en-GB" sz="2600" i="1" dirty="0">
              <a:solidFill>
                <a:schemeClr val="tx1"/>
              </a:solidFill>
              <a:latin typeface="Arial" panose="020B0604020202020204" pitchFamily="34" charset="0"/>
              <a:cs typeface="Arial" panose="020B0604020202020204" pitchFamily="34" charset="0"/>
            </a:endParaRPr>
          </a:p>
          <a:p>
            <a:r>
              <a:rPr lang="en-GB" sz="2600" b="1" dirty="0">
                <a:solidFill>
                  <a:schemeClr val="tx1"/>
                </a:solidFill>
                <a:latin typeface="Arial" panose="020B0604020202020204" pitchFamily="34" charset="0"/>
                <a:cs typeface="Arial" panose="020B0604020202020204" pitchFamily="34" charset="0"/>
              </a:rPr>
              <a:t>16 October 2026</a:t>
            </a:r>
            <a:endParaRPr lang="en-GB" sz="2600" i="1" dirty="0">
              <a:solidFill>
                <a:schemeClr val="tx1"/>
              </a:solidFill>
              <a:latin typeface="Arial" panose="020B0604020202020204" pitchFamily="34" charset="0"/>
              <a:cs typeface="Arial" panose="020B0604020202020204" pitchFamily="34" charset="0"/>
            </a:endParaRPr>
          </a:p>
        </p:txBody>
      </p:sp>
      <p:sp>
        <p:nvSpPr>
          <p:cNvPr id="5" name="Subtitle 2"/>
          <p:cNvSpPr txBox="1">
            <a:spLocks/>
          </p:cNvSpPr>
          <p:nvPr/>
        </p:nvSpPr>
        <p:spPr>
          <a:xfrm>
            <a:off x="304800" y="2590800"/>
            <a:ext cx="8382000" cy="156845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GB" b="1" i="1" dirty="0">
                <a:solidFill>
                  <a:schemeClr val="tx1"/>
                </a:solidFill>
              </a:rPr>
              <a:t>Student Information System</a:t>
            </a:r>
            <a:endParaRPr lang="en-GB" i="1" dirty="0">
              <a:solidFill>
                <a:schemeClr val="tx1"/>
              </a:solidFill>
              <a:latin typeface="Arial" panose="020B0604020202020204" pitchFamily="34" charset="0"/>
              <a:cs typeface="Arial" panose="020B0604020202020204" pitchFamily="34" charset="0"/>
            </a:endParaRPr>
          </a:p>
          <a:p>
            <a:r>
              <a:rPr lang="en-GB" b="1" i="1" dirty="0">
                <a:solidFill>
                  <a:schemeClr val="tx1"/>
                </a:solidFill>
              </a:rPr>
              <a:t>Design and Implementation</a:t>
            </a:r>
            <a:endParaRPr lang="en-GB" i="1" dirty="0">
              <a:solidFill>
                <a:schemeClr val="tx1"/>
              </a:solidFill>
              <a:latin typeface="Arial" panose="020B0604020202020204" pitchFamily="34" charset="0"/>
              <a:cs typeface="Arial" panose="020B0604020202020204" pitchFamily="34" charset="0"/>
            </a:endParaRPr>
          </a:p>
          <a:p>
            <a:r>
              <a:rPr lang="en-GB" b="1" i="1" dirty="0">
                <a:solidFill>
                  <a:schemeClr val="tx1"/>
                </a:solidFill>
              </a:rPr>
              <a:t>with Moodle Integration</a:t>
            </a:r>
            <a:endParaRPr lang="en-GB" i="1" dirty="0">
              <a:solidFill>
                <a:schemeClr val="tx1"/>
              </a:solidFill>
              <a:latin typeface="Arial" panose="020B0604020202020204" pitchFamily="34" charset="0"/>
              <a:cs typeface="Arial" panose="020B0604020202020204" pitchFamily="34" charset="0"/>
            </a:endParaRPr>
          </a:p>
        </p:txBody>
      </p:sp>
      <p:sp>
        <p:nvSpPr>
          <p:cNvPr id="7" name="Slide Number Placeholder 6"/>
          <p:cNvSpPr>
            <a:spLocks noGrp="1"/>
          </p:cNvSpPr>
          <p:nvPr>
            <p:ph type="sldNum" sz="quarter" idx="12"/>
          </p:nvPr>
        </p:nvSpPr>
        <p:spPr/>
        <p:txBody>
          <a:bodyPr/>
          <a:lstStyle/>
          <a:p>
            <a:fld id="{B05B2CF3-79DA-4FD7-92C8-684048778C6E}" type="slidenum">
              <a:rPr lang="en-GB" smtClean="0"/>
              <a:pPr/>
              <a:t>2</a:t>
            </a:fld>
            <a:endParaRPr lang="en-GB"/>
          </a:p>
        </p:txBody>
      </p:sp>
    </p:spTree>
    <p:extLst>
      <p:ext uri="{BB962C8B-B14F-4D97-AF65-F5344CB8AC3E}">
        <p14:creationId xmlns:p14="http://schemas.microsoft.com/office/powerpoint/2010/main" val="3117030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6525"/>
            <a:ext cx="8305800" cy="777875"/>
          </a:xfrm>
        </p:spPr>
        <p:txBody>
          <a:bodyPr>
            <a:noAutofit/>
          </a:bodyPr>
          <a:lstStyle/>
          <a:p>
            <a:r>
              <a:rPr lang="en-GB" sz="4800" b="1" dirty="0">
                <a:cs typeface="Arial" panose="020B0604020202020204" pitchFamily="34" charset="0"/>
              </a:rPr>
              <a:t>PRESENTATION OUTLINE</a:t>
            </a:r>
          </a:p>
        </p:txBody>
      </p:sp>
      <p:sp>
        <p:nvSpPr>
          <p:cNvPr id="3" name="Content Placeholder 2"/>
          <p:cNvSpPr>
            <a:spLocks noGrp="1"/>
          </p:cNvSpPr>
          <p:nvPr>
            <p:ph idx="1"/>
          </p:nvPr>
        </p:nvSpPr>
        <p:spPr>
          <a:xfrm>
            <a:off x="381000" y="914400"/>
            <a:ext cx="8382000" cy="5715000"/>
          </a:xfrm>
        </p:spPr>
        <p:txBody>
          <a:bodyPr>
            <a:noAutofit/>
          </a:bodyPr>
          <a:lstStyle/>
          <a:p>
            <a:pPr>
              <a:buFont typeface="Wingdings" panose="05000000000000000000" pitchFamily="2" charset="2"/>
              <a:buChar char="§"/>
            </a:pPr>
            <a:r>
              <a:rPr lang="en-ZA" sz="2800" dirty="0">
                <a:latin typeface="Arial" pitchFamily="34" charset="0"/>
                <a:cs typeface="Arial" pitchFamily="34" charset="0"/>
              </a:rPr>
              <a:t>Introduction and background</a:t>
            </a:r>
          </a:p>
          <a:p>
            <a:pPr>
              <a:buFont typeface="Wingdings" panose="05000000000000000000" pitchFamily="2" charset="2"/>
              <a:buChar char="§"/>
            </a:pPr>
            <a:r>
              <a:rPr lang="en-ZA" sz="2800" dirty="0">
                <a:latin typeface="Arial" pitchFamily="34" charset="0"/>
                <a:cs typeface="Arial" pitchFamily="34" charset="0"/>
              </a:rPr>
              <a:t>Problem statement</a:t>
            </a:r>
          </a:p>
          <a:p>
            <a:pPr>
              <a:buFont typeface="Wingdings" panose="05000000000000000000" pitchFamily="2" charset="2"/>
              <a:buChar char="§"/>
            </a:pPr>
            <a:r>
              <a:rPr lang="en-ZA" sz="2800" dirty="0">
                <a:latin typeface="Arial" pitchFamily="34" charset="0"/>
                <a:cs typeface="Arial" pitchFamily="34" charset="0"/>
              </a:rPr>
              <a:t>Aim and objectives</a:t>
            </a:r>
          </a:p>
          <a:p>
            <a:pPr>
              <a:buFont typeface="Wingdings" panose="05000000000000000000" pitchFamily="2" charset="2"/>
              <a:buChar char="§"/>
            </a:pPr>
            <a:r>
              <a:rPr lang="en-GB" sz="2800" dirty="0">
                <a:latin typeface="Arial" pitchFamily="34" charset="0"/>
                <a:cs typeface="Arial" pitchFamily="34" charset="0"/>
              </a:rPr>
              <a:t>Research questions</a:t>
            </a:r>
          </a:p>
          <a:p>
            <a:pPr>
              <a:buFont typeface="Wingdings" panose="05000000000000000000" pitchFamily="2" charset="2"/>
              <a:buChar char="§"/>
            </a:pPr>
            <a:r>
              <a:rPr lang="en-GB" sz="2800" dirty="0" smtClean="0">
                <a:latin typeface="Arial" pitchFamily="34" charset="0"/>
                <a:cs typeface="Arial" pitchFamily="34" charset="0"/>
              </a:rPr>
              <a:t>Literature review</a:t>
            </a:r>
          </a:p>
          <a:p>
            <a:pPr>
              <a:buFont typeface="Wingdings" panose="05000000000000000000" pitchFamily="2" charset="2"/>
              <a:buChar char="§"/>
            </a:pPr>
            <a:r>
              <a:rPr lang="en-GB" sz="2800" dirty="0" smtClean="0">
                <a:latin typeface="Arial" pitchFamily="34" charset="0"/>
                <a:cs typeface="Arial" pitchFamily="34" charset="0"/>
              </a:rPr>
              <a:t>Methodology and system design</a:t>
            </a:r>
            <a:endParaRPr lang="en-ZA" sz="2800" dirty="0">
              <a:latin typeface="Arial" pitchFamily="34" charset="0"/>
              <a:cs typeface="Arial" pitchFamily="34" charset="0"/>
            </a:endParaRPr>
          </a:p>
          <a:p>
            <a:pPr>
              <a:buFont typeface="Wingdings" panose="05000000000000000000" pitchFamily="2" charset="2"/>
              <a:buChar char="§"/>
            </a:pPr>
            <a:r>
              <a:rPr lang="en-GB" sz="2800" dirty="0" smtClean="0">
                <a:latin typeface="Arial" pitchFamily="34" charset="0"/>
                <a:cs typeface="Arial" pitchFamily="34" charset="0"/>
              </a:rPr>
              <a:t>Results and discussion</a:t>
            </a:r>
            <a:endParaRPr lang="en-GB" sz="2800" dirty="0">
              <a:latin typeface="Arial" pitchFamily="34" charset="0"/>
              <a:cs typeface="Arial" pitchFamily="34" charset="0"/>
            </a:endParaRPr>
          </a:p>
          <a:p>
            <a:pPr>
              <a:buFont typeface="Wingdings" panose="05000000000000000000" pitchFamily="2" charset="2"/>
              <a:buChar char="§"/>
            </a:pPr>
            <a:r>
              <a:rPr lang="en-ZA" sz="2800" dirty="0" smtClean="0">
                <a:latin typeface="Arial" pitchFamily="34" charset="0"/>
                <a:cs typeface="Arial" pitchFamily="34" charset="0"/>
              </a:rPr>
              <a:t>Conclusion and recommendations</a:t>
            </a:r>
            <a:endParaRPr lang="en-ZA" sz="2800" dirty="0">
              <a:latin typeface="Arial" pitchFamily="34" charset="0"/>
              <a:cs typeface="Arial" pitchFamily="34" charset="0"/>
            </a:endParaRPr>
          </a:p>
          <a:p>
            <a:pPr>
              <a:buFont typeface="Wingdings" panose="05000000000000000000" pitchFamily="2" charset="2"/>
              <a:buChar char="§"/>
            </a:pPr>
            <a:r>
              <a:rPr lang="en-ZA" sz="2800" dirty="0">
                <a:latin typeface="Arial" pitchFamily="34" charset="0"/>
                <a:cs typeface="Arial" pitchFamily="34" charset="0"/>
              </a:rPr>
              <a:t>References</a:t>
            </a:r>
            <a:endParaRPr lang="en-ZA" sz="28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05B2CF3-79DA-4FD7-92C8-684048778C6E}" type="slidenum">
              <a:rPr lang="en-GB" smtClean="0"/>
              <a:pPr/>
              <a:t>3</a:t>
            </a:fld>
            <a:endParaRPr lang="en-GB"/>
          </a:p>
        </p:txBody>
      </p:sp>
    </p:spTree>
    <p:extLst>
      <p:ext uri="{BB962C8B-B14F-4D97-AF65-F5344CB8AC3E}">
        <p14:creationId xmlns:p14="http://schemas.microsoft.com/office/powerpoint/2010/main" val="1616938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b="1" dirty="0">
                <a:cs typeface="Times New Roman" panose="02020603050405020304" pitchFamily="18" charset="0"/>
              </a:rPr>
              <a:t>INTRODUCTION</a:t>
            </a:r>
            <a:endParaRPr lang="en-GB" b="1" dirty="0"/>
          </a:p>
        </p:txBody>
      </p:sp>
      <p:sp>
        <p:nvSpPr>
          <p:cNvPr id="3" name="Content Placeholder 2"/>
          <p:cNvSpPr>
            <a:spLocks noGrp="1"/>
          </p:cNvSpPr>
          <p:nvPr>
            <p:ph idx="1"/>
          </p:nvPr>
        </p:nvSpPr>
        <p:spPr>
          <a:xfrm>
            <a:off x="457200" y="1600200"/>
            <a:ext cx="8229600" cy="4756150"/>
          </a:xfrm>
        </p:spPr>
        <p:txBody>
          <a:bodyPr>
            <a:noAutofit/>
          </a:bodyPr>
          <a:lstStyle/>
          <a:p>
            <a:pPr>
              <a:buFont typeface="Wingdings" panose="05000000000000000000" pitchFamily="2" charset="2"/>
              <a:buChar char="§"/>
            </a:pPr>
            <a:r>
              <a:rPr lang="en-GB" sz="2800" dirty="0"/>
              <a:t>We developed a Student Information System (SIS) for university administration and student services.</a:t>
            </a:r>
          </a:p>
          <a:p>
            <a:pPr>
              <a:buFont typeface="Wingdings" panose="05000000000000000000" pitchFamily="2" charset="2"/>
              <a:buChar char="§"/>
            </a:pPr>
            <a:r>
              <a:rPr lang="en-GB" sz="2800" dirty="0"/>
              <a:t>Moodle supports teaching and learning. Our SIS owns registration and official academic records.</a:t>
            </a:r>
          </a:p>
          <a:p>
            <a:pPr>
              <a:buFont typeface="Wingdings" panose="05000000000000000000" pitchFamily="2" charset="2"/>
              <a:buChar char="§"/>
            </a:pPr>
            <a:r>
              <a:rPr lang="en-GB" sz="2800" dirty="0"/>
              <a:t>Our project connects these responsibilities through controlled integration workflows.</a:t>
            </a:r>
          </a:p>
        </p:txBody>
      </p:sp>
      <p:sp>
        <p:nvSpPr>
          <p:cNvPr id="4" name="Slide Number Placeholder 3"/>
          <p:cNvSpPr>
            <a:spLocks noGrp="1"/>
          </p:cNvSpPr>
          <p:nvPr>
            <p:ph type="sldNum" sz="quarter" idx="12"/>
          </p:nvPr>
        </p:nvSpPr>
        <p:spPr/>
        <p:txBody>
          <a:bodyPr/>
          <a:lstStyle/>
          <a:p>
            <a:fld id="{B05B2CF3-79DA-4FD7-92C8-684048778C6E}" type="slidenum">
              <a:rPr lang="en-GB" smtClean="0"/>
              <a:pPr/>
              <a:t>4</a:t>
            </a:fld>
            <a:endParaRPr lang="en-GB"/>
          </a:p>
        </p:txBody>
      </p:sp>
    </p:spTree>
    <p:extLst>
      <p:ext uri="{BB962C8B-B14F-4D97-AF65-F5344CB8AC3E}">
        <p14:creationId xmlns:p14="http://schemas.microsoft.com/office/powerpoint/2010/main" val="2431217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b="1" dirty="0">
                <a:cs typeface="Times New Roman" panose="02020603050405020304" pitchFamily="18" charset="0"/>
              </a:rPr>
              <a:t>BACKGROUND OF THE STUDY</a:t>
            </a:r>
            <a:endParaRPr lang="en-GB" b="1" dirty="0"/>
          </a:p>
        </p:txBody>
      </p:sp>
      <p:sp>
        <p:nvSpPr>
          <p:cNvPr id="3" name="Content Placeholder 2"/>
          <p:cNvSpPr>
            <a:spLocks noGrp="1"/>
          </p:cNvSpPr>
          <p:nvPr>
            <p:ph idx="1"/>
          </p:nvPr>
        </p:nvSpPr>
        <p:spPr>
          <a:xfrm>
            <a:off x="457200" y="1600200"/>
            <a:ext cx="8229600" cy="4756150"/>
          </a:xfrm>
        </p:spPr>
        <p:txBody>
          <a:bodyPr>
            <a:noAutofit/>
          </a:bodyPr>
          <a:lstStyle/>
          <a:p>
            <a:pPr>
              <a:buFont typeface="Wingdings" panose="05000000000000000000" pitchFamily="2" charset="2"/>
              <a:buChar char="§"/>
            </a:pPr>
            <a:r>
              <a:rPr lang="en-GB" sz="2800" dirty="0">
                <a:solidFill>
                  <a:srgbClr val="222222"/>
                </a:solidFill>
                <a:ea typeface="Arial Unicode MS" panose="020B0604020202020204" pitchFamily="34" charset="-128"/>
              </a:rPr>
              <a:t>Students depend on consistent records across admissions, registration and their learning platform.</a:t>
            </a:r>
            <a:endParaRPr lang="en-GB" sz="2800" dirty="0"/>
          </a:p>
          <a:p>
            <a:pPr>
              <a:buFont typeface="Wingdings" panose="05000000000000000000" pitchFamily="2" charset="2"/>
              <a:buChar char="§"/>
            </a:pPr>
            <a:r>
              <a:rPr lang="en-GB" sz="2800" dirty="0">
                <a:solidFill>
                  <a:srgbClr val="222222"/>
                </a:solidFill>
                <a:ea typeface="Arial Unicode MS" panose="020B0604020202020204" pitchFamily="34" charset="-128"/>
              </a:rPr>
              <a:t>Moodle web services support external access to users, courses and enrolments.</a:t>
            </a:r>
            <a:endParaRPr lang="en-GB" sz="2800" dirty="0"/>
          </a:p>
          <a:p>
            <a:pPr>
              <a:buFont typeface="Wingdings" panose="05000000000000000000" pitchFamily="2" charset="2"/>
              <a:buChar char="§"/>
            </a:pPr>
            <a:r>
              <a:rPr lang="en-GB" sz="2800" dirty="0">
                <a:solidFill>
                  <a:srgbClr val="222222"/>
                </a:solidFill>
                <a:ea typeface="Arial Unicode MS" panose="020B0604020202020204" pitchFamily="34" charset="-128"/>
              </a:rPr>
              <a:t>We use a configurable university structure and demonstration policies to exercise these workflows.</a:t>
            </a:r>
            <a:endParaRPr lang="en-GB" sz="2800"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a:t>
            </a:fld>
            <a:endParaRPr lang="en-GB"/>
          </a:p>
        </p:txBody>
      </p:sp>
    </p:spTree>
    <p:extLst>
      <p:ext uri="{BB962C8B-B14F-4D97-AF65-F5344CB8AC3E}">
        <p14:creationId xmlns:p14="http://schemas.microsoft.com/office/powerpoint/2010/main" val="603725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b="1" dirty="0">
                <a:cs typeface="Times New Roman" panose="02020603050405020304" pitchFamily="18" charset="0"/>
              </a:rPr>
              <a:t>STATEMENT OF THE PROBLEM</a:t>
            </a:r>
            <a:endParaRPr lang="en-GB" b="1" dirty="0"/>
          </a:p>
        </p:txBody>
      </p:sp>
      <p:sp>
        <p:nvSpPr>
          <p:cNvPr id="3" name="Content Placeholder 2"/>
          <p:cNvSpPr>
            <a:spLocks noGrp="1"/>
          </p:cNvSpPr>
          <p:nvPr>
            <p:ph idx="1"/>
          </p:nvPr>
        </p:nvSpPr>
        <p:spPr>
          <a:xfrm>
            <a:off x="457200" y="1295400"/>
            <a:ext cx="8382000" cy="5060950"/>
          </a:xfrm>
        </p:spPr>
        <p:txBody>
          <a:bodyPr>
            <a:noAutofit/>
          </a:bodyPr>
          <a:lstStyle/>
          <a:p>
            <a:pPr algn="just" eaLnBrk="0" fontAlgn="base" hangingPunct="0">
              <a:spcBef>
                <a:spcPct val="0"/>
              </a:spcBef>
              <a:spcAft>
                <a:spcPct val="0"/>
              </a:spcAft>
            </a:pPr>
            <a:r>
              <a:rPr lang="en-US" sz="2400" dirty="0">
                <a:solidFill>
                  <a:srgbClr val="000000"/>
                </a:solidFill>
                <a:ea typeface="Times New Roman" charset="0"/>
                <a:cs typeface="Times New Roman" charset="0"/>
              </a:rPr>
              <a:t>Disconnected administrative and learning records create duplicate work and inconsistent course access.</a:t>
            </a:r>
          </a:p>
          <a:p>
            <a:pPr algn="just" eaLnBrk="0" fontAlgn="base" hangingPunct="0">
              <a:spcBef>
                <a:spcPct val="0"/>
              </a:spcBef>
              <a:spcAft>
                <a:spcPct val="0"/>
              </a:spcAft>
            </a:pPr>
            <a:r>
              <a:rPr lang="en-US" sz="2400" dirty="0">
                <a:solidFill>
                  <a:srgbClr val="000000"/>
                </a:solidFill>
                <a:ea typeface="Times New Roman" charset="0"/>
                <a:cs typeface="Times New Roman" charset="0"/>
              </a:rPr>
              <a:t>A successful registration must remain valid when Moodle is unavailable.</a:t>
            </a:r>
          </a:p>
          <a:p>
            <a:pPr algn="just" eaLnBrk="0" fontAlgn="base" hangingPunct="0">
              <a:spcBef>
                <a:spcPct val="0"/>
              </a:spcBef>
              <a:spcAft>
                <a:spcPct val="0"/>
              </a:spcAft>
            </a:pPr>
            <a:r>
              <a:rPr lang="en-US" sz="2400" dirty="0">
                <a:solidFill>
                  <a:srgbClr val="000000"/>
                </a:solidFill>
                <a:ea typeface="Times New Roman" charset="0"/>
                <a:cs typeface="Times New Roman" charset="0"/>
              </a:rPr>
              <a:t>Staff need traceable approval, reconciliation and recovery rather than manual edits without history.</a:t>
            </a:r>
          </a:p>
          <a:p>
            <a:pPr algn="just" eaLnBrk="0" fontAlgn="base" hangingPunct="0">
              <a:spcBef>
                <a:spcPct val="0"/>
              </a:spcBef>
              <a:spcAft>
                <a:spcPct val="0"/>
              </a:spcAft>
            </a:pPr>
            <a:r>
              <a:rPr lang="en-GB" sz="2400" b="1" dirty="0"/>
              <a:t>Students need clear registration status, personal timetables and useful support routes.</a:t>
            </a:r>
            <a:endParaRPr lang="en-US" sz="2400" b="1" dirty="0">
              <a:solidFill>
                <a:srgbClr val="000000"/>
              </a:solidFill>
              <a:ea typeface="Times New Roman" charset="0"/>
              <a:cs typeface="Times New Roman" charset="0"/>
            </a:endParaRPr>
          </a:p>
        </p:txBody>
      </p:sp>
      <p:sp>
        <p:nvSpPr>
          <p:cNvPr id="4" name="Slide Number Placeholder 3"/>
          <p:cNvSpPr>
            <a:spLocks noGrp="1"/>
          </p:cNvSpPr>
          <p:nvPr>
            <p:ph type="sldNum" sz="quarter" idx="12"/>
          </p:nvPr>
        </p:nvSpPr>
        <p:spPr/>
        <p:txBody>
          <a:bodyPr/>
          <a:lstStyle/>
          <a:p>
            <a:fld id="{B05B2CF3-79DA-4FD7-92C8-684048778C6E}" type="slidenum">
              <a:rPr lang="en-GB" smtClean="0"/>
              <a:pPr/>
              <a:t>6</a:t>
            </a:fld>
            <a:endParaRPr lang="en-GB"/>
          </a:p>
        </p:txBody>
      </p:sp>
    </p:spTree>
    <p:extLst>
      <p:ext uri="{BB962C8B-B14F-4D97-AF65-F5344CB8AC3E}">
        <p14:creationId xmlns:p14="http://schemas.microsoft.com/office/powerpoint/2010/main" val="1802779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pitchFamily="34" charset="0"/>
                <a:cs typeface="Arial" pitchFamily="34" charset="0"/>
              </a:rPr>
              <a:t>AIM OF THE STUDY</a:t>
            </a:r>
            <a:endParaRPr lang="en-GB" b="1" dirty="0"/>
          </a:p>
        </p:txBody>
      </p:sp>
      <p:sp>
        <p:nvSpPr>
          <p:cNvPr id="3" name="Content Placeholder 2"/>
          <p:cNvSpPr>
            <a:spLocks noGrp="1"/>
          </p:cNvSpPr>
          <p:nvPr>
            <p:ph idx="1"/>
          </p:nvPr>
        </p:nvSpPr>
        <p:spPr/>
        <p:txBody>
          <a:bodyPr/>
          <a:lstStyle/>
          <a:p>
            <a:pPr algn="just" eaLnBrk="0" fontAlgn="base" hangingPunct="0">
              <a:spcBef>
                <a:spcPct val="0"/>
              </a:spcBef>
              <a:spcAft>
                <a:spcPct val="0"/>
              </a:spcAft>
            </a:pPr>
            <a:r>
              <a:rPr lang="en-GB" dirty="0" smtClean="0"/>
              <a:t>To design and implement a unified Student Information System with bidirectional Moodle integration and a governed AI layer for administrative workflows and proactive student support.</a:t>
            </a:r>
          </a:p>
        </p:txBody>
      </p:sp>
      <p:sp>
        <p:nvSpPr>
          <p:cNvPr id="4" name="Slide Number Placeholder 3"/>
          <p:cNvSpPr>
            <a:spLocks noGrp="1"/>
          </p:cNvSpPr>
          <p:nvPr>
            <p:ph type="sldNum" sz="quarter" idx="12"/>
          </p:nvPr>
        </p:nvSpPr>
        <p:spPr/>
        <p:txBody>
          <a:bodyPr/>
          <a:lstStyle/>
          <a:p>
            <a:fld id="{B05B2CF3-79DA-4FD7-92C8-684048778C6E}" type="slidenum">
              <a:rPr lang="en-GB" smtClean="0"/>
              <a:pPr/>
              <a:t>7</a:t>
            </a:fld>
            <a:endParaRPr lang="en-GB"/>
          </a:p>
        </p:txBody>
      </p:sp>
    </p:spTree>
    <p:extLst>
      <p:ext uri="{BB962C8B-B14F-4D97-AF65-F5344CB8AC3E}">
        <p14:creationId xmlns:p14="http://schemas.microsoft.com/office/powerpoint/2010/main" val="1294481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pitchFamily="34" charset="0"/>
                <a:cs typeface="Arial" pitchFamily="34" charset="0"/>
              </a:rPr>
              <a:t>RESEARCH OBJECTIVES</a:t>
            </a:r>
            <a:endParaRPr lang="en-GB" b="1" dirty="0"/>
          </a:p>
        </p:txBody>
      </p:sp>
      <p:sp>
        <p:nvSpPr>
          <p:cNvPr id="3" name="Content Placeholder 2"/>
          <p:cNvSpPr>
            <a:spLocks noGrp="1"/>
          </p:cNvSpPr>
          <p:nvPr>
            <p:ph idx="1"/>
          </p:nvPr>
        </p:nvSpPr>
        <p:spPr/>
        <p:txBody>
          <a:bodyPr/>
          <a:lstStyle/>
          <a:p>
            <a:pPr lvl="0">
              <a:buFont typeface="Wingdings" panose="05000000000000000000" pitchFamily="2" charset="2"/>
              <a:buChar char="§"/>
            </a:pPr>
            <a:r>
              <a:rPr lang="en-GB" dirty="0"/>
              <a:t>Develop modular SIS administration and integrate Moodle using web services and LTI 1.3.</a:t>
            </a:r>
          </a:p>
          <a:p>
            <a:pPr lvl="0">
              <a:buFont typeface="Wingdings" panose="05000000000000000000" pitchFamily="2" charset="2"/>
              <a:buChar char="§"/>
            </a:pPr>
            <a:r>
              <a:rPr lang="en-GB" dirty="0"/>
              <a:t>Implement governed AI for student enquiries, staff summaries, risk insights and opt-in wellbeing support.</a:t>
            </a:r>
          </a:p>
        </p:txBody>
      </p:sp>
      <p:sp>
        <p:nvSpPr>
          <p:cNvPr id="4" name="Slide Number Placeholder 3"/>
          <p:cNvSpPr>
            <a:spLocks noGrp="1"/>
          </p:cNvSpPr>
          <p:nvPr>
            <p:ph type="sldNum" sz="quarter" idx="12"/>
          </p:nvPr>
        </p:nvSpPr>
        <p:spPr/>
        <p:txBody>
          <a:bodyPr/>
          <a:lstStyle/>
          <a:p>
            <a:fld id="{B05B2CF3-79DA-4FD7-92C8-684048778C6E}" type="slidenum">
              <a:rPr lang="en-GB" smtClean="0"/>
              <a:pPr/>
              <a:t>8</a:t>
            </a:fld>
            <a:endParaRPr lang="en-GB"/>
          </a:p>
        </p:txBody>
      </p:sp>
    </p:spTree>
    <p:extLst>
      <p:ext uri="{BB962C8B-B14F-4D97-AF65-F5344CB8AC3E}">
        <p14:creationId xmlns:p14="http://schemas.microsoft.com/office/powerpoint/2010/main" val="3073682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pitchFamily="34" charset="0"/>
                <a:cs typeface="Arial" pitchFamily="34" charset="0"/>
              </a:rPr>
              <a:t>RESEARCH QUESTIONS</a:t>
            </a:r>
            <a:endParaRPr lang="en-GB" b="1" dirty="0"/>
          </a:p>
        </p:txBody>
      </p:sp>
      <p:sp>
        <p:nvSpPr>
          <p:cNvPr id="3" name="Content Placeholder 2"/>
          <p:cNvSpPr>
            <a:spLocks noGrp="1"/>
          </p:cNvSpPr>
          <p:nvPr>
            <p:ph idx="1"/>
          </p:nvPr>
        </p:nvSpPr>
        <p:spPr/>
        <p:txBody>
          <a:bodyPr/>
          <a:lstStyle/>
          <a:p>
            <a:pPr marL="0" lvl="0" indent="0">
              <a:buNone/>
            </a:pPr>
            <a:r>
              <a:rPr lang="en-GB" dirty="0"/>
              <a:t>How can we preserve authoritative SIS records while linking course access in Moodle?</a:t>
            </a:r>
          </a:p>
          <a:p>
            <a:pPr lvl="0">
              <a:buFont typeface="Wingdings" panose="05000000000000000000" pitchFamily="2" charset="2"/>
              <a:buChar char="§"/>
            </a:pPr>
            <a:r>
              <a:rPr lang="en-GB" dirty="0"/>
              <a:t>How can configurable policies support university workflows and independent approvals?</a:t>
            </a:r>
          </a:p>
          <a:p>
            <a:pPr lvl="0">
              <a:buFont typeface="Wingdings" panose="05000000000000000000" pitchFamily="2" charset="2"/>
              <a:buChar char="§"/>
            </a:pPr>
            <a:r>
              <a:rPr lang="en-GB" dirty="0"/>
              <a:t>What controls must precede AI assistance using student information?</a:t>
            </a:r>
          </a:p>
        </p:txBody>
      </p:sp>
      <p:sp>
        <p:nvSpPr>
          <p:cNvPr id="4" name="Slide Number Placeholder 3"/>
          <p:cNvSpPr>
            <a:spLocks noGrp="1"/>
          </p:cNvSpPr>
          <p:nvPr>
            <p:ph type="sldNum" sz="quarter" idx="12"/>
          </p:nvPr>
        </p:nvSpPr>
        <p:spPr/>
        <p:txBody>
          <a:bodyPr/>
          <a:lstStyle/>
          <a:p>
            <a:fld id="{B05B2CF3-79DA-4FD7-92C8-684048778C6E}" type="slidenum">
              <a:rPr lang="en-GB" smtClean="0"/>
              <a:pPr/>
              <a:t>9</a:t>
            </a:fld>
            <a:endParaRPr lang="en-GB"/>
          </a:p>
        </p:txBody>
      </p:sp>
    </p:spTree>
    <p:extLst>
      <p:ext uri="{BB962C8B-B14F-4D97-AF65-F5344CB8AC3E}">
        <p14:creationId xmlns:p14="http://schemas.microsoft.com/office/powerpoint/2010/main" val="395193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pitchFamily="34" charset="0"/>
                <a:cs typeface="Arial" pitchFamily="34" charset="0"/>
              </a:rPr>
              <a:t>LITERATURE REVIEW (1/3)</a:t>
            </a:r>
            <a:endParaRPr lang="en-GB" b="1" dirty="0"/>
          </a:p>
        </p:txBody>
      </p:sp>
      <p:sp>
        <p:nvSpPr>
          <p:cNvPr id="3" name="Content Placeholder 2"/>
          <p:cNvSpPr>
            <a:spLocks noGrp="1"/>
          </p:cNvSpPr>
          <p:nvPr>
            <p:ph idx="1"/>
          </p:nvPr>
        </p:nvSpPr>
        <p:spPr/>
        <p:txBody>
          <a:bodyPr/>
          <a:lstStyle/>
          <a:p>
            <a:pPr lvl="0">
              <a:buFont typeface="Wingdings" panose="05000000000000000000" pitchFamily="2" charset="2"/>
              <a:buChar char="Ø"/>
            </a:pPr>
            <a:r>
              <a:rPr lang="en-GB" sz="2400" dirty="0"/>
              <a:t>Moodle web services provide external functions for user, course and enrolment operations [1].</a:t>
            </a:r>
          </a:p>
          <a:p>
            <a:pPr lvl="0">
              <a:buFont typeface="Wingdings" panose="05000000000000000000" pitchFamily="2" charset="2"/>
              <a:buChar char="Ø"/>
            </a:pPr>
            <a:r>
              <a:rPr lang="en-GB" sz="2400" dirty="0" err="1"/>
              <a:t>We use this provisioning lane to demonstrate course access on MoodleCloud.</a:t>
            </a:r>
          </a:p>
          <a:p>
            <a:pPr lvl="0">
              <a:buFont typeface="Wingdings" panose="05000000000000000000" pitchFamily="2" charset="2"/>
              <a:buChar char="Ø"/>
            </a:pPr>
            <a:r>
              <a:rPr lang="en-GB" sz="2400" dirty="0" err="1"/>
              <a:t>Our design separates successful SIS registration from later integration delivery.</a:t>
            </a:r>
          </a:p>
        </p:txBody>
      </p:sp>
      <p:sp>
        <p:nvSpPr>
          <p:cNvPr id="4" name="Slide Number Placeholder 3"/>
          <p:cNvSpPr>
            <a:spLocks noGrp="1"/>
          </p:cNvSpPr>
          <p:nvPr>
            <p:ph type="sldNum" sz="quarter" idx="12"/>
          </p:nvPr>
        </p:nvSpPr>
        <p:spPr/>
        <p:txBody>
          <a:bodyPr/>
          <a:lstStyle/>
          <a:p>
            <a:fld id="{B05B2CF3-79DA-4FD7-92C8-684048778C6E}" type="slidenum">
              <a:rPr lang="en-GB" smtClean="0"/>
              <a:pPr/>
              <a:t>10</a:t>
            </a:fld>
            <a:endParaRPr lang="en-GB"/>
          </a:p>
        </p:txBody>
      </p:sp>
    </p:spTree>
    <p:extLst>
      <p:ext uri="{BB962C8B-B14F-4D97-AF65-F5344CB8AC3E}">
        <p14:creationId xmlns:p14="http://schemas.microsoft.com/office/powerpoint/2010/main" val="3683485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pitchFamily="34" charset="0"/>
                <a:cs typeface="Arial" pitchFamily="34" charset="0"/>
              </a:rPr>
              <a:t>LITERATURE REVIEW (2/3)</a:t>
            </a:r>
            <a:endParaRPr lang="en-GB" b="1" dirty="0"/>
          </a:p>
        </p:txBody>
      </p:sp>
      <p:sp>
        <p:nvSpPr>
          <p:cNvPr id="3" name="Content Placeholder 2"/>
          <p:cNvSpPr>
            <a:spLocks noGrp="1"/>
          </p:cNvSpPr>
          <p:nvPr>
            <p:ph idx="1"/>
          </p:nvPr>
        </p:nvSpPr>
        <p:spPr/>
        <p:txBody>
          <a:bodyPr/>
          <a:lstStyle/>
          <a:p>
            <a:r>
              <a:rPr lang="en-GB" dirty="0"/>
              <a:t>LTI 1.3 defines secure launches between a learning platform and an external tool [2].</a:t>
            </a:r>
            <a:endParaRPr lang="en-GB" dirty="0"/>
          </a:p>
          <a:p>
            <a:r>
              <a:rPr lang="en-GB" dirty="0"/>
              <a:t>This supports a separate tool launch lane alongside web service provisioning.</a:t>
            </a:r>
            <a:endParaRPr lang="en-GB" dirty="0"/>
          </a:p>
          <a:p>
            <a:r>
              <a:rPr lang="en-GB" dirty="0"/>
              <a:t>LTI launch and single sign-on remain future implementation work in our current build.</a:t>
            </a:r>
            <a:endParaRPr lang="en-GB"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11</a:t>
            </a:fld>
            <a:endParaRPr lang="en-GB"/>
          </a:p>
        </p:txBody>
      </p:sp>
    </p:spTree>
    <p:extLst>
      <p:ext uri="{BB962C8B-B14F-4D97-AF65-F5344CB8AC3E}">
        <p14:creationId xmlns:p14="http://schemas.microsoft.com/office/powerpoint/2010/main" val="2392048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pitchFamily="34" charset="0"/>
                <a:cs typeface="Arial" pitchFamily="34" charset="0"/>
              </a:rPr>
              <a:t>LITERATURE REVIEW (3/3)</a:t>
            </a:r>
            <a:endParaRPr lang="en-GB" b="1" dirty="0"/>
          </a:p>
        </p:txBody>
      </p:sp>
      <p:sp>
        <p:nvSpPr>
          <p:cNvPr id="3" name="Content Placeholder 2"/>
          <p:cNvSpPr>
            <a:spLocks noGrp="1"/>
          </p:cNvSpPr>
          <p:nvPr>
            <p:ph idx="1"/>
          </p:nvPr>
        </p:nvSpPr>
        <p:spPr/>
        <p:txBody>
          <a:bodyPr/>
          <a:lstStyle/>
          <a:p>
            <a:pPr lvl="0">
              <a:buFont typeface="Wingdings" panose="05000000000000000000" pitchFamily="2" charset="2"/>
              <a:buChar char="§"/>
            </a:pPr>
            <a:r>
              <a:rPr lang="en-GB" sz="2400" dirty="0"/>
              <a:t>NIST AI RMF 1.0 structures AI risk management around Govern, Map, Measure and Manage [3].</a:t>
            </a:r>
            <a:endParaRPr lang="en-GB" sz="2400" dirty="0"/>
          </a:p>
          <a:p>
            <a:pPr lvl="0">
              <a:buFont typeface="Wingdings" panose="05000000000000000000" pitchFamily="2" charset="2"/>
              <a:buChar char="§"/>
            </a:pPr>
            <a:r>
              <a:rPr lang="en-GB" sz="2400" dirty="0"/>
              <a:t>Our proposed assistant requires permission checks, approved knowledge and human escalation.</a:t>
            </a:r>
            <a:endParaRPr lang="en-GB" sz="2400" dirty="0"/>
          </a:p>
          <a:p>
            <a:pPr lvl="0">
              <a:buFont typeface="Wingdings" panose="05000000000000000000" pitchFamily="2" charset="2"/>
              <a:buChar char="§"/>
            </a:pPr>
            <a:r>
              <a:rPr lang="en-GB" sz="2400" dirty="0"/>
              <a:t>We have not completed or evaluated a deployed student AI assistant.</a:t>
            </a:r>
            <a:endParaRPr lang="en-GB" sz="2400"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12</a:t>
            </a:fld>
            <a:endParaRPr lang="en-GB"/>
          </a:p>
        </p:txBody>
      </p:sp>
    </p:spTree>
    <p:extLst>
      <p:ext uri="{BB962C8B-B14F-4D97-AF65-F5344CB8AC3E}">
        <p14:creationId xmlns:p14="http://schemas.microsoft.com/office/powerpoint/2010/main" val="324617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RESEARCH METHODOLOGY (1/4)</a:t>
            </a:r>
          </a:p>
        </p:txBody>
      </p:sp>
      <p:sp>
        <p:nvSpPr>
          <p:cNvPr id="3" name="Content Placeholder 2"/>
          <p:cNvSpPr>
            <a:spLocks noGrp="1"/>
          </p:cNvSpPr>
          <p:nvPr>
            <p:ph idx="1"/>
          </p:nvPr>
        </p:nvSpPr>
        <p:spPr>
          <a:xfrm>
            <a:off x="304800" y="1417638"/>
            <a:ext cx="8382000" cy="5165724"/>
          </a:xfrm>
        </p:spPr>
        <p:txBody>
          <a:bodyPr>
            <a:normAutofit/>
          </a:bodyPr>
          <a:lstStyle/>
          <a:p>
            <a:pPr marL="365760" indent="-365760">
              <a:spcBef>
                <a:spcPts val="400"/>
              </a:spcBef>
            </a:pPr>
            <a:r>
              <a:rPr lang="en-GB" sz="1800" b="1" dirty="0">
                <a:effectLst/>
                <a:latin typeface="Arial" panose="020B0604020202020204" pitchFamily="34" charset="0"/>
                <a:ea typeface="PMingLiU" panose="02020500000000000000" pitchFamily="18" charset="-120"/>
                <a:cs typeface="Times New Roman" panose="02020603050405020304" pitchFamily="18" charset="0"/>
              </a:rPr>
              <a:t>Iterative system development</a:t>
            </a:r>
          </a:p>
          <a:p>
            <a:pPr marL="857250" lvl="1" indent="-457200">
              <a:spcBef>
                <a:spcPts val="200"/>
              </a:spcBef>
            </a:pPr>
            <a:r>
              <a:rPr lang="en-GB" sz="1400" b="1" dirty="0">
                <a:effectLst/>
                <a:latin typeface="Arial" panose="020B0604020202020204" pitchFamily="34" charset="0"/>
                <a:ea typeface="PMingLiU" panose="02020500000000000000" pitchFamily="18" charset="-120"/>
                <a:cs typeface="Times New Roman" panose="02020603050405020304" pitchFamily="18" charset="0"/>
              </a:rPr>
              <a:t>We map handbook requirements to task packets and vertical slices.</a:t>
            </a:r>
          </a:p>
          <a:p>
            <a:pPr marL="857250" lvl="1" indent="-457200">
              <a:spcBef>
                <a:spcPts val="200"/>
              </a:spcBef>
            </a:pPr>
            <a:r>
              <a:rPr lang="en-GB" sz="1400" b="1" dirty="0">
                <a:effectLst/>
                <a:latin typeface="Arial" panose="020B0604020202020204" pitchFamily="34" charset="0"/>
                <a:ea typeface="PMingLiU" panose="02020500000000000000" pitchFamily="18" charset="-120"/>
                <a:cs typeface="Times New Roman" panose="02020603050405020304" pitchFamily="18" charset="0"/>
              </a:rPr>
              <a:t>We implement UI, API, database state and audit behaviour together.</a:t>
            </a:r>
          </a:p>
          <a:p>
            <a:pPr marL="948690" lvl="1" indent="-548640">
              <a:lnSpc>
                <a:spcPct val="110000"/>
              </a:lnSpc>
              <a:spcBef>
                <a:spcPts val="200"/>
              </a:spcBef>
            </a:pPr>
            <a:r>
              <a:rPr lang="en-GB" sz="1400" b="1" dirty="0">
                <a:effectLst/>
                <a:latin typeface="Times New Roman" panose="02020603050405020304" pitchFamily="18" charset="0"/>
                <a:ea typeface="PMingLiU" panose="02020500000000000000" pitchFamily="18" charset="-120"/>
              </a:rPr>
              <a:t>We test isolated policies and representative student workflows.</a:t>
            </a:r>
          </a:p>
          <a:p>
            <a:pPr marL="948690" lvl="1" indent="-548640">
              <a:lnSpc>
                <a:spcPct val="110000"/>
              </a:lnSpc>
              <a:spcBef>
                <a:spcPts val="200"/>
              </a:spcBef>
            </a:pPr>
            <a:r>
              <a:rPr lang="en-GB" sz="1400" b="1" dirty="0">
                <a:effectLst/>
                <a:latin typeface="Times New Roman" panose="02020603050405020304" pitchFamily="18" charset="0"/>
                <a:ea typeface="PMingLiU" panose="02020500000000000000" pitchFamily="18" charset="-120"/>
              </a:rPr>
              <a:t>We record unresolved capabilities separately from demonstrated behaviour.</a:t>
            </a:r>
          </a:p>
        </p:txBody>
      </p:sp>
      <p:sp>
        <p:nvSpPr>
          <p:cNvPr id="4" name="Slide Number Placeholder 3"/>
          <p:cNvSpPr>
            <a:spLocks noGrp="1"/>
          </p:cNvSpPr>
          <p:nvPr>
            <p:ph type="sldNum" sz="quarter" idx="12"/>
          </p:nvPr>
        </p:nvSpPr>
        <p:spPr/>
        <p:txBody>
          <a:bodyPr/>
          <a:lstStyle/>
          <a:p>
            <a:fld id="{B05B2CF3-79DA-4FD7-92C8-684048778C6E}" type="slidenum">
              <a:rPr lang="en-GB" smtClean="0"/>
              <a:pPr/>
              <a:t>13</a:t>
            </a:fld>
            <a:endParaRPr lang="en-GB"/>
          </a:p>
        </p:txBody>
      </p:sp>
    </p:spTree>
    <p:extLst>
      <p:ext uri="{BB962C8B-B14F-4D97-AF65-F5344CB8AC3E}">
        <p14:creationId xmlns:p14="http://schemas.microsoft.com/office/powerpoint/2010/main" val="246679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RESEARCH METHODOLOGY (2/4)</a:t>
            </a:r>
          </a:p>
        </p:txBody>
      </p:sp>
      <p:sp>
        <p:nvSpPr>
          <p:cNvPr id="4" name="Slide Number Placeholder 3"/>
          <p:cNvSpPr>
            <a:spLocks noGrp="1"/>
          </p:cNvSpPr>
          <p:nvPr>
            <p:ph type="sldNum" sz="quarter" idx="12"/>
          </p:nvPr>
        </p:nvSpPr>
        <p:spPr/>
        <p:txBody>
          <a:bodyPr/>
          <a:lstStyle/>
          <a:p>
            <a:fld id="{B05B2CF3-79DA-4FD7-92C8-684048778C6E}" type="slidenum">
              <a:rPr lang="en-GB" smtClean="0"/>
              <a:pPr/>
              <a:t>14</a:t>
            </a:fld>
            <a:endParaRPr lang="en-GB"/>
          </a:p>
        </p:txBody>
      </p:sp>
      <p:sp>
        <p:nvSpPr>
          <p:cNvPr id="90" name="Next.js web interface"/>
          <p:cNvSpPr/>
          <p:nvPr/>
        </p:nvSpPr>
        <p:spPr>
          <a:xfrm>
            <a:off x="2148840" y="1737360"/>
            <a:ext cx="4846320" cy="777240"/>
          </a:xfrm>
          <a:prstGeom prst="rect">
            <a:avLst/>
          </a:prstGeom>
          <a:solidFill>
            <a:schemeClr val="lt1"/>
          </a:solidFill>
          <a:ln w="19050">
            <a:solidFill>
              <a:schemeClr val="accent1"/>
            </a:solidFill>
          </a:ln>
        </p:spPr>
        <p:txBody>
          <a:bodyPr anchor="ctr"/>
          <a:lstStyle/>
          <a:p>
            <a:pPr algn="ctr"/>
            <a:r>
              <a:rPr sz="2800">
                <a:latin typeface="Arial"/>
              </a:rPr>
              <a:t>Next.js web interface</a:t>
            </a:r>
          </a:p>
        </p:txBody>
      </p:sp>
      <p:sp>
        <p:nvSpPr>
          <p:cNvPr id="91" name="NestJS modular API"/>
          <p:cNvSpPr/>
          <p:nvPr/>
        </p:nvSpPr>
        <p:spPr>
          <a:xfrm>
            <a:off x="2148840" y="3200400"/>
            <a:ext cx="4846320" cy="777240"/>
          </a:xfrm>
          <a:prstGeom prst="rect">
            <a:avLst/>
          </a:prstGeom>
          <a:solidFill>
            <a:schemeClr val="lt1"/>
          </a:solidFill>
          <a:ln w="19050">
            <a:solidFill>
              <a:schemeClr val="accent1"/>
            </a:solidFill>
          </a:ln>
        </p:spPr>
        <p:txBody>
          <a:bodyPr anchor="ctr"/>
          <a:lstStyle/>
          <a:p>
            <a:pPr algn="ctr"/>
            <a:r>
              <a:rPr sz="2800">
                <a:latin typeface="Arial"/>
              </a:rPr>
              <a:t>NestJS modular API</a:t>
            </a:r>
          </a:p>
        </p:txBody>
      </p:sp>
      <p:sp>
        <p:nvSpPr>
          <p:cNvPr id="92" name="PostgreSQL"/>
          <p:cNvSpPr/>
          <p:nvPr/>
        </p:nvSpPr>
        <p:spPr>
          <a:xfrm>
            <a:off x="594360" y="4800600"/>
            <a:ext cx="3383280" cy="777240"/>
          </a:xfrm>
          <a:prstGeom prst="rect">
            <a:avLst/>
          </a:prstGeom>
          <a:solidFill>
            <a:schemeClr val="lt1"/>
          </a:solidFill>
          <a:ln w="19050">
            <a:solidFill>
              <a:schemeClr val="accent1"/>
            </a:solidFill>
          </a:ln>
        </p:spPr>
        <p:txBody>
          <a:bodyPr anchor="ctr"/>
          <a:lstStyle/>
          <a:p>
            <a:pPr algn="ctr"/>
            <a:r>
              <a:rPr sz="2800">
                <a:latin typeface="Arial"/>
              </a:rPr>
              <a:t>PostgreSQL</a:t>
            </a:r>
          </a:p>
        </p:txBody>
      </p:sp>
      <p:sp>
        <p:nvSpPr>
          <p:cNvPr id="93" name="MoodleCloud"/>
          <p:cNvSpPr/>
          <p:nvPr/>
        </p:nvSpPr>
        <p:spPr>
          <a:xfrm>
            <a:off x="5166360" y="4800600"/>
            <a:ext cx="3383280" cy="777240"/>
          </a:xfrm>
          <a:prstGeom prst="rect">
            <a:avLst/>
          </a:prstGeom>
          <a:solidFill>
            <a:schemeClr val="lt1"/>
          </a:solidFill>
          <a:ln w="19050">
            <a:solidFill>
              <a:schemeClr val="accent1"/>
            </a:solidFill>
          </a:ln>
        </p:spPr>
        <p:txBody>
          <a:bodyPr anchor="ctr"/>
          <a:lstStyle/>
          <a:p>
            <a:pPr algn="ctr"/>
            <a:r>
              <a:rPr sz="2800">
                <a:latin typeface="Arial"/>
              </a:rPr>
              <a:t>MoodleCloud</a:t>
            </a:r>
          </a:p>
        </p:txBody>
      </p:sp>
      <p:cxnSp>
        <p:nvCxnSpPr>
          <p:cNvPr id="94" name="Data flow"/>
          <p:cNvCxnSpPr/>
          <p:nvPr/>
        </p:nvCxnSpPr>
        <p:spPr>
          <a:xfrm>
            <a:off x="4572000" y="2514600"/>
            <a:ext cx="0" cy="685800"/>
          </a:xfrm>
          <a:prstGeom prst="line">
            <a:avLst/>
          </a:prstGeom>
          <a:ln w="25400">
            <a:solidFill>
              <a:schemeClr val="accent1"/>
            </a:solidFill>
            <a:prstDash val="solid"/>
            <a:tailEnd type="triangle"/>
          </a:ln>
        </p:spPr>
      </p:cxnSp>
      <p:cxnSp>
        <p:nvCxnSpPr>
          <p:cNvPr id="95" name="Data flow"/>
          <p:cNvCxnSpPr/>
          <p:nvPr/>
        </p:nvCxnSpPr>
        <p:spPr>
          <a:xfrm>
            <a:off x="2286000" y="3977639"/>
            <a:ext cx="0" cy="822960"/>
          </a:xfrm>
          <a:prstGeom prst="line">
            <a:avLst/>
          </a:prstGeom>
          <a:ln w="25400">
            <a:solidFill>
              <a:schemeClr val="accent1"/>
            </a:solidFill>
            <a:prstDash val="solid"/>
            <a:tailEnd type="triangle"/>
          </a:ln>
        </p:spPr>
      </p:cxnSp>
      <p:cxnSp>
        <p:nvCxnSpPr>
          <p:cNvPr id="96" name="Data flow"/>
          <p:cNvCxnSpPr/>
          <p:nvPr/>
        </p:nvCxnSpPr>
        <p:spPr>
          <a:xfrm>
            <a:off x="6858000" y="3977639"/>
            <a:ext cx="0" cy="822960"/>
          </a:xfrm>
          <a:prstGeom prst="line">
            <a:avLst/>
          </a:prstGeom>
          <a:ln w="25400">
            <a:solidFill>
              <a:schemeClr val="accent1"/>
            </a:solidFill>
            <a:prstDash val="dash"/>
            <a:tailEnd type="triangle"/>
          </a:ln>
        </p:spPr>
      </p:cxnSp>
      <p:sp>
        <p:nvSpPr>
          <p:cNvPr id="97" name="Dashed path: live delivery pending"/>
          <p:cNvSpPr/>
          <p:nvPr/>
        </p:nvSpPr>
        <p:spPr>
          <a:xfrm>
            <a:off x="1280160" y="5852160"/>
            <a:ext cx="6583680" cy="457200"/>
          </a:xfrm>
          <a:prstGeom prst="rect">
            <a:avLst/>
          </a:prstGeom>
          <a:solidFill>
            <a:schemeClr val="lt1"/>
          </a:solidFill>
        </p:spPr>
        <p:txBody>
          <a:bodyPr anchor="ctr"/>
          <a:lstStyle/>
          <a:p>
            <a:pPr algn="ctr"/>
            <a:r>
              <a:rPr sz="1800">
                <a:latin typeface="Arial"/>
              </a:rPr>
              <a:t>Dashed path: live delivery pending</a:t>
            </a:r>
          </a:p>
        </p:txBody>
      </p:sp>
    </p:spTree>
    <p:extLst>
      <p:ext uri="{BB962C8B-B14F-4D97-AF65-F5344CB8AC3E}">
        <p14:creationId xmlns:p14="http://schemas.microsoft.com/office/powerpoint/2010/main" val="2431667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RESEARCH METHODOLOGY (3/4)</a:t>
            </a:r>
          </a:p>
        </p:txBody>
      </p:sp>
      <p:sp>
        <p:nvSpPr>
          <p:cNvPr id="3" name="Content Placeholder 2"/>
          <p:cNvSpPr>
            <a:spLocks noGrp="1"/>
          </p:cNvSpPr>
          <p:nvPr>
            <p:ph idx="1"/>
          </p:nvPr>
        </p:nvSpPr>
        <p:spPr>
          <a:xfrm>
            <a:off x="457200" y="1417638"/>
            <a:ext cx="8229600" cy="4708525"/>
          </a:xfrm>
        </p:spPr>
        <p:txBody>
          <a:bodyPr>
            <a:normAutofit/>
          </a:bodyPr>
          <a:lstStyle/>
          <a:p>
            <a:pPr marL="548640" indent="-548640">
              <a:lnSpc>
                <a:spcPct val="110000"/>
              </a:lnSpc>
              <a:spcBef>
                <a:spcPts val="200"/>
              </a:spcBef>
            </a:pPr>
            <a:r>
              <a:rPr lang="en-GB" sz="2800" b="1" dirty="0">
                <a:latin typeface="Times New Roman" panose="02020603050405020304" pitchFamily="18" charset="0"/>
                <a:ea typeface="PMingLiU" panose="02020500000000000000" pitchFamily="18" charset="-120"/>
              </a:rPr>
              <a:t>PostgreSQL stores academic records, versioned decisions and integration evidence.</a:t>
            </a:r>
          </a:p>
          <a:p>
            <a:pPr marL="548640" indent="-548640">
              <a:lnSpc>
                <a:spcPct val="110000"/>
              </a:lnSpc>
              <a:spcBef>
                <a:spcPts val="200"/>
              </a:spcBef>
            </a:pPr>
            <a:r>
              <a:rPr lang="en-GB" sz="2800" b="1" dirty="0">
                <a:latin typeface="Times New Roman" panose="02020603050405020304" pitchFamily="18" charset="0"/>
                <a:ea typeface="PMingLiU" panose="02020500000000000000" pitchFamily="18" charset="-120"/>
              </a:rPr>
              <a:t>Scoped roles control access to each workspace and student record.</a:t>
            </a:r>
          </a:p>
          <a:p>
            <a:pPr marL="548640" indent="-548640">
              <a:lnSpc>
                <a:spcPct val="110000"/>
              </a:lnSpc>
              <a:spcBef>
                <a:spcPts val="200"/>
              </a:spcBef>
            </a:pPr>
            <a:r>
              <a:rPr lang="en-GB" sz="2800" b="1" dirty="0">
                <a:latin typeface="Times New Roman" panose="02020603050405020304" pitchFamily="18" charset="0"/>
                <a:ea typeface="PMingLiU" panose="02020500000000000000" pitchFamily="18" charset="-120"/>
              </a:rPr>
              <a:t>Independent reviewers approve sensitive publication decisions.</a:t>
            </a:r>
          </a:p>
          <a:p>
            <a:pPr marL="548640" indent="-548640">
              <a:lnSpc>
                <a:spcPct val="110000"/>
              </a:lnSpc>
              <a:spcBef>
                <a:spcPts val="200"/>
              </a:spcBef>
            </a:pPr>
            <a:r>
              <a:rPr lang="en-GB" sz="2800" b="1" dirty="0">
                <a:latin typeface="Times New Roman" panose="02020603050405020304" pitchFamily="18" charset="0"/>
                <a:ea typeface="PMingLiU" panose="02020500000000000000" pitchFamily="18" charset="-120"/>
              </a:rPr>
              <a:t>Audit records and immutable snapshots preserve the history of consequential changes.</a:t>
            </a:r>
          </a:p>
        </p:txBody>
      </p:sp>
      <p:sp>
        <p:nvSpPr>
          <p:cNvPr id="4" name="Slide Number Placeholder 3"/>
          <p:cNvSpPr>
            <a:spLocks noGrp="1"/>
          </p:cNvSpPr>
          <p:nvPr>
            <p:ph type="sldNum" sz="quarter" idx="12"/>
          </p:nvPr>
        </p:nvSpPr>
        <p:spPr/>
        <p:txBody>
          <a:bodyPr/>
          <a:lstStyle/>
          <a:p>
            <a:fld id="{B05B2CF3-79DA-4FD7-92C8-684048778C6E}" type="slidenum">
              <a:rPr lang="en-GB" smtClean="0"/>
              <a:pPr/>
              <a:t>15</a:t>
            </a:fld>
            <a:endParaRPr lang="en-GB"/>
          </a:p>
        </p:txBody>
      </p:sp>
    </p:spTree>
    <p:extLst>
      <p:ext uri="{BB962C8B-B14F-4D97-AF65-F5344CB8AC3E}">
        <p14:creationId xmlns:p14="http://schemas.microsoft.com/office/powerpoint/2010/main" val="990120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RESEARCH METHODOLOGY (4/4)</a:t>
            </a:r>
          </a:p>
        </p:txBody>
      </p:sp>
      <p:sp>
        <p:nvSpPr>
          <p:cNvPr id="3" name="Content Placeholder 2"/>
          <p:cNvSpPr>
            <a:spLocks noGrp="1"/>
          </p:cNvSpPr>
          <p:nvPr>
            <p:ph idx="1"/>
          </p:nvPr>
        </p:nvSpPr>
        <p:spPr>
          <a:xfrm>
            <a:off x="457200" y="1417638"/>
            <a:ext cx="8229600" cy="4708525"/>
          </a:xfrm>
        </p:spPr>
        <p:txBody>
          <a:bodyPr>
            <a:normAutofit/>
          </a:bodyPr>
          <a:lstStyle/>
          <a:p>
            <a:pPr>
              <a:buFont typeface="Wingdings" panose="05000000000000000000" pitchFamily="2" charset="2"/>
              <a:buChar char="§"/>
            </a:pPr>
            <a:r>
              <a:rPr lang="en-GB" sz="2800" dirty="0" smtClean="0"/>
              <a:t>We use API tests, connected database checks and browser journeys.</a:t>
            </a:r>
          </a:p>
          <a:p>
            <a:pPr>
              <a:buFont typeface="Wingdings" panose="05000000000000000000" pitchFamily="2" charset="2"/>
              <a:buChar char="§"/>
            </a:pPr>
            <a:r>
              <a:rPr lang="en-GB" sz="2800" dirty="0" smtClean="0"/>
              <a:t>Current local checks passed four sign-in journeys and six workspace database checks.</a:t>
            </a:r>
            <a:endParaRPr lang="en-GB" sz="2800" dirty="0"/>
          </a:p>
          <a:p>
            <a:pPr>
              <a:buFont typeface="Wingdings" panose="05000000000000000000" pitchFamily="2" charset="2"/>
              <a:buChar char="§"/>
            </a:pPr>
            <a:r>
              <a:rPr lang="en-GB" sz="2800" dirty="0" smtClean="0"/>
              <a:t>A prior release passed 137 main browser tests and 26 Moodle deferral tests.</a:t>
            </a:r>
            <a:endParaRPr lang="en-GB" sz="2800" dirty="0"/>
          </a:p>
          <a:p>
            <a:pPr>
              <a:buFont typeface="Wingdings" panose="05000000000000000000" pitchFamily="2" charset="2"/>
              <a:buChar char="§"/>
            </a:pPr>
            <a:r>
              <a:rPr lang="en-GB" sz="2800" dirty="0" smtClean="0"/>
              <a:t>These checks do not replace institutional user acceptance testing.</a:t>
            </a:r>
            <a:endParaRPr lang="en-GB" sz="2800"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16</a:t>
            </a:fld>
            <a:endParaRPr lang="en-GB"/>
          </a:p>
        </p:txBody>
      </p:sp>
    </p:spTree>
    <p:extLst>
      <p:ext uri="{BB962C8B-B14F-4D97-AF65-F5344CB8AC3E}">
        <p14:creationId xmlns:p14="http://schemas.microsoft.com/office/powerpoint/2010/main" val="3921813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RESULTS AND DISCUSSION </a:t>
            </a:r>
            <a:r>
              <a:rPr lang="en-GB" b="1" dirty="0"/>
              <a:t>(1/4)</a:t>
            </a:r>
          </a:p>
        </p:txBody>
      </p:sp>
      <p:sp>
        <p:nvSpPr>
          <p:cNvPr id="4" name="Slide Number Placeholder 3"/>
          <p:cNvSpPr>
            <a:spLocks noGrp="1"/>
          </p:cNvSpPr>
          <p:nvPr>
            <p:ph type="sldNum" sz="quarter" idx="12"/>
          </p:nvPr>
        </p:nvSpPr>
        <p:spPr/>
        <p:txBody>
          <a:bodyPr/>
          <a:lstStyle/>
          <a:p>
            <a:fld id="{B05B2CF3-79DA-4FD7-92C8-684048778C6E}" type="slidenum">
              <a:rPr lang="en-GB" smtClean="0"/>
              <a:pPr/>
              <a:t>22</a:t>
            </a:fld>
            <a:endParaRPr lang="en-GB"/>
          </a:p>
        </p:txBody>
      </p:sp>
      <p:pic>
        <p:nvPicPr>
          <p:cNvPr id="90" name="Project evidence image" descr="Fully loaded connected local student home, 16 October 2026"/>
          <p:cNvPicPr/>
          <p:nvPr/>
        </p:nvPicPr>
        <p:blipFill>
          <a:blip r:embed="rIdLoadedHome"/>
          <a:stretch>
            <a:fillRect/>
          </a:stretch>
        </p:blipFill>
        <p:spPr>
          <a:xfrm>
            <a:off x="2717669" y="1417320"/>
            <a:ext cx="3708662"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990620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RESULTS AND DISCUSSION (2/4)</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23</a:t>
            </a:fld>
            <a:endParaRPr lang="en-GB"/>
          </a:p>
        </p:txBody>
      </p:sp>
      <p:pic>
        <p:nvPicPr>
          <p:cNvPr id="90" name="Project evidence image" descr="student-timetable-desktop.png"/>
          <p:cNvPicPr/>
          <p:nvPr/>
        </p:nvPicPr>
        <p:blipFill>
          <a:blip r:embed="rIdEvidence"/>
          <a:stretch>
            <a:fillRect/>
          </a:stretch>
        </p:blipFill>
        <p:spPr>
          <a:xfrm>
            <a:off x="826252" y="1417320"/>
            <a:ext cx="7491496" cy="4480560"/>
          </a:xfrm>
          <a:prstGeom prst="rect">
            <a:avLst/>
          </a:prstGeom>
        </p:spPr>
      </p:pic>
    </p:spTree>
    <p:extLst>
      <p:ext uri="{BB962C8B-B14F-4D97-AF65-F5344CB8AC3E}">
        <p14:creationId xmlns:p14="http://schemas.microsoft.com/office/powerpoint/2010/main" val="1017783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RESULTS AND DISCUSSION (3/4)</a:t>
            </a:r>
            <a:endParaRPr lang="en-GB" b="1" dirty="0"/>
          </a:p>
        </p:txBody>
      </p:sp>
      <p:sp>
        <p:nvSpPr>
          <p:cNvPr id="3" name="Content Placeholder 2"/>
          <p:cNvSpPr>
            <a:spLocks noGrp="1"/>
          </p:cNvSpPr>
          <p:nvPr>
            <p:ph idx="1"/>
          </p:nvPr>
        </p:nvSpPr>
        <p:spPr/>
        <p:txBody>
          <a:bodyPr/>
          <a:lstStyle/>
          <a:p>
            <a:pPr lvl="0">
              <a:buFont typeface="Wingdings" panose="05000000000000000000" pitchFamily="2" charset="2"/>
              <a:buChar char="§"/>
            </a:pPr>
            <a:r>
              <a:rPr lang="en-GB" sz="2400" dirty="0"/>
              <a:t>We created 12 visible MoodleCloud courses and four demonstration accounts.</a:t>
            </a:r>
            <a:endParaRPr lang="en-GB" sz="2400" dirty="0"/>
          </a:p>
          <a:p>
            <a:pPr lvl="0">
              <a:buFont typeface="Wingdings" panose="05000000000000000000" pitchFamily="2" charset="2"/>
              <a:buChar char="§"/>
            </a:pPr>
            <a:r>
              <a:rPr lang="en-GB" sz="2400" dirty="0"/>
              <a:t>We verified 48 course memberships across those accounts.</a:t>
            </a:r>
            <a:endParaRPr lang="en-GB" sz="2400" dirty="0"/>
          </a:p>
          <a:p>
            <a:pPr lvl="0">
              <a:buFont typeface="Wingdings" panose="05000000000000000000" pitchFamily="2" charset="2"/>
              <a:buChar char="§"/>
            </a:pPr>
            <a:r>
              <a:rPr lang="en-GB" sz="2400" dirty="0"/>
              <a:t>A learner signed in normally, saw all 12 courses and opened a course.</a:t>
            </a:r>
            <a:endParaRPr lang="en-GB" sz="2400" dirty="0"/>
          </a:p>
          <a:p>
            <a:pPr lvl="0">
              <a:buFont typeface="Wingdings" panose="05000000000000000000" pitchFamily="2" charset="2"/>
              <a:buChar char="§"/>
            </a:pPr>
            <a:r>
              <a:rPr lang="en-GB" sz="2400" dirty="0"/>
              <a:t>Automatic live synchronisation and grade delivery still require completion.</a:t>
            </a:r>
            <a:endParaRPr lang="en-GB" sz="2400"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24</a:t>
            </a:fld>
            <a:endParaRPr lang="en-GB"/>
          </a:p>
        </p:txBody>
      </p:sp>
    </p:spTree>
    <p:extLst>
      <p:ext uri="{BB962C8B-B14F-4D97-AF65-F5344CB8AC3E}">
        <p14:creationId xmlns:p14="http://schemas.microsoft.com/office/powerpoint/2010/main" val="789570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RESULTS AND DISCUSSION (4/4)</a:t>
            </a:r>
            <a:endParaRPr lang="en-GB" b="1" dirty="0"/>
          </a:p>
        </p:txBody>
      </p:sp>
      <p:sp>
        <p:nvSpPr>
          <p:cNvPr id="3" name="Content Placeholder 2"/>
          <p:cNvSpPr>
            <a:spLocks noGrp="1"/>
          </p:cNvSpPr>
          <p:nvPr>
            <p:ph idx="1"/>
          </p:nvPr>
        </p:nvSpPr>
        <p:spPr/>
        <p:txBody>
          <a:bodyPr/>
          <a:lstStyle/>
          <a:p>
            <a:pPr lvl="0">
              <a:buFont typeface="Wingdings" panose="05000000000000000000" pitchFamily="2" charset="2"/>
              <a:buChar char="§"/>
            </a:pPr>
            <a:r>
              <a:rPr lang="en-GB" sz="2400" dirty="0"/>
              <a:t>Our prepared SIS dataset completed nine registrations through the API.</a:t>
            </a:r>
            <a:endParaRPr lang="en-GB" sz="2400" dirty="0"/>
          </a:p>
          <a:p>
            <a:pPr lvl="0">
              <a:buFont typeface="Wingdings" panose="05000000000000000000" pitchFamily="2" charset="2"/>
              <a:buChar char="§"/>
            </a:pPr>
            <a:r>
              <a:rPr lang="en-GB" sz="2400" dirty="0"/>
              <a:t>Published timetables project relevant sessions to each registered student.</a:t>
            </a:r>
            <a:endParaRPr lang="en-GB" sz="2400" dirty="0"/>
          </a:p>
          <a:p>
            <a:pPr lvl="0">
              <a:buFont typeface="Wingdings" panose="05000000000000000000" pitchFamily="2" charset="2"/>
              <a:buChar char="§"/>
            </a:pPr>
            <a:r>
              <a:rPr lang="en-GB" sz="2400" dirty="0"/>
              <a:t>Registration failures preserve actionable validation messages and supporting evidence.</a:t>
            </a:r>
            <a:endParaRPr lang="en-GB" sz="2400" dirty="0"/>
          </a:p>
          <a:p>
            <a:pPr lvl="0">
              <a:buFont typeface="Wingdings" panose="05000000000000000000" pitchFamily="2" charset="2"/>
              <a:buChar char="§"/>
            </a:pPr>
            <a:r>
              <a:rPr lang="en-GB" sz="2400" dirty="0"/>
              <a:t>The latest student UI is a local checkpoint, separate from the earlier deployed release.</a:t>
            </a:r>
            <a:endParaRPr lang="en-GB" sz="2400"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25</a:t>
            </a:fld>
            <a:endParaRPr lang="en-GB"/>
          </a:p>
        </p:txBody>
      </p:sp>
    </p:spTree>
    <p:extLst>
      <p:ext uri="{BB962C8B-B14F-4D97-AF65-F5344CB8AC3E}">
        <p14:creationId xmlns:p14="http://schemas.microsoft.com/office/powerpoint/2010/main" val="3713939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4801"/>
            <a:ext cx="7825154" cy="762000"/>
          </a:xfrm>
        </p:spPr>
        <p:txBody>
          <a:bodyPr>
            <a:normAutofit/>
          </a:bodyPr>
          <a:lstStyle/>
          <a:p>
            <a:r>
              <a:rPr lang="en-GB" sz="4000" b="1" dirty="0">
                <a:latin typeface="+mn-lt"/>
                <a:cs typeface="Times New Roman" panose="02020603050405020304" pitchFamily="18" charset="0"/>
              </a:rPr>
              <a:t>CONCLUSION</a:t>
            </a:r>
            <a:endParaRPr lang="en-GB" sz="4000" b="1" dirty="0">
              <a:latin typeface="+mn-lt"/>
            </a:endParaRPr>
          </a:p>
        </p:txBody>
      </p:sp>
      <p:sp>
        <p:nvSpPr>
          <p:cNvPr id="4" name="Subtitle 3"/>
          <p:cNvSpPr>
            <a:spLocks noGrp="1"/>
          </p:cNvSpPr>
          <p:nvPr>
            <p:ph type="subTitle" idx="1"/>
          </p:nvPr>
        </p:nvSpPr>
        <p:spPr>
          <a:xfrm>
            <a:off x="304800" y="1219199"/>
            <a:ext cx="8610600" cy="5333999"/>
          </a:xfrm>
        </p:spPr>
        <p:txBody>
          <a:bodyPr>
            <a:normAutofit fontScale="92500"/>
          </a:bodyPr>
          <a:lstStyle/>
          <a:p>
            <a:pPr marL="342900" indent="-342900" algn="just">
              <a:buFont typeface="Wingdings" panose="05000000000000000000" pitchFamily="2" charset="2"/>
              <a:buChar char="§"/>
            </a:pPr>
            <a:r>
              <a:rPr lang="en-US" sz="2400" dirty="0">
                <a:solidFill>
                  <a:srgbClr val="000000"/>
                </a:solidFill>
                <a:latin typeface="Times New Roman" charset="0"/>
                <a:ea typeface="Times New Roman" charset="0"/>
                <a:cs typeface="Times New Roman" charset="0"/>
              </a:rPr>
              <a:t>We built a modular SIS with controlled registration, assessment and timetable workflows.</a:t>
            </a:r>
          </a:p>
          <a:p>
            <a:pPr marL="342900" indent="-342900" algn="just">
              <a:buFont typeface="Wingdings" panose="05000000000000000000" pitchFamily="2" charset="2"/>
              <a:buChar char="§"/>
            </a:pPr>
            <a:r>
              <a:rPr lang="en-US" sz="2400" dirty="0">
                <a:solidFill>
                  <a:srgbClr val="000000"/>
                </a:solidFill>
                <a:latin typeface="Times New Roman" charset="0"/>
                <a:ea typeface="Times New Roman" charset="0"/>
                <a:cs typeface="Times New Roman" charset="0"/>
              </a:rPr>
              <a:t>We demonstrated external MoodleCloud course creation and learner access.</a:t>
            </a:r>
          </a:p>
          <a:p>
            <a:pPr marL="342900" indent="-342900" algn="just">
              <a:buFont typeface="Wingdings" panose="05000000000000000000" pitchFamily="2" charset="2"/>
              <a:buChar char="§"/>
            </a:pPr>
            <a:r>
              <a:rPr lang="en-US" sz="2400" dirty="0">
                <a:solidFill>
                  <a:srgbClr val="000000"/>
                </a:solidFill>
                <a:latin typeface="Times New Roman" charset="0"/>
                <a:ea typeface="Times New Roman" charset="0"/>
                <a:cs typeface="Times New Roman" charset="0"/>
              </a:rPr>
              <a:t>Our main contribution is the separation of authoritative academic decisions from recoverable integration work.</a:t>
            </a:r>
          </a:p>
          <a:p>
            <a:pPr marL="342900" indent="-342900" algn="just">
              <a:buFont typeface="Wingdings" panose="05000000000000000000" pitchFamily="2" charset="2"/>
              <a:buChar char="Ø"/>
            </a:pPr>
            <a:r>
              <a:rPr lang="en-US" sz="2400" b="1" dirty="0">
                <a:solidFill>
                  <a:srgbClr val="000000"/>
                </a:solidFill>
                <a:latin typeface="Times New Roman" charset="0"/>
                <a:ea typeface="Times New Roman" charset="0"/>
                <a:cs typeface="Times New Roman" charset="0"/>
              </a:rPr>
              <a:t>The project remains a demonstrator with identified integration and AI work outstanding.</a:t>
            </a:r>
          </a:p>
        </p:txBody>
      </p:sp>
      <p:sp>
        <p:nvSpPr>
          <p:cNvPr id="5" name="Slide Number Placeholder 4"/>
          <p:cNvSpPr>
            <a:spLocks noGrp="1"/>
          </p:cNvSpPr>
          <p:nvPr>
            <p:ph type="sldNum" sz="quarter" idx="12"/>
          </p:nvPr>
        </p:nvSpPr>
        <p:spPr/>
        <p:txBody>
          <a:bodyPr/>
          <a:lstStyle/>
          <a:p>
            <a:fld id="{B05B2CF3-79DA-4FD7-92C8-684048778C6E}" type="slidenum">
              <a:rPr lang="en-GB" smtClean="0"/>
              <a:pPr/>
              <a:t>37</a:t>
            </a:fld>
            <a:endParaRPr lang="en-GB"/>
          </a:p>
        </p:txBody>
      </p:sp>
    </p:spTree>
    <p:extLst>
      <p:ext uri="{BB962C8B-B14F-4D97-AF65-F5344CB8AC3E}">
        <p14:creationId xmlns:p14="http://schemas.microsoft.com/office/powerpoint/2010/main" val="328589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36525"/>
            <a:ext cx="7772400" cy="1219200"/>
          </a:xfrm>
        </p:spPr>
        <p:txBody>
          <a:bodyPr>
            <a:normAutofit/>
          </a:bodyPr>
          <a:lstStyle/>
          <a:p>
            <a:r>
              <a:rPr lang="en-GB" b="1" dirty="0">
                <a:latin typeface="+mn-lt"/>
                <a:cs typeface="Times New Roman" panose="02020603050405020304" pitchFamily="18" charset="0"/>
              </a:rPr>
              <a:t>RECOMMENDATIONS</a:t>
            </a:r>
            <a:endParaRPr lang="en-GB" b="1" dirty="0">
              <a:latin typeface="+mn-lt"/>
            </a:endParaRPr>
          </a:p>
        </p:txBody>
      </p:sp>
      <p:sp>
        <p:nvSpPr>
          <p:cNvPr id="4" name="Subtitle 3"/>
          <p:cNvSpPr>
            <a:spLocks noGrp="1"/>
          </p:cNvSpPr>
          <p:nvPr>
            <p:ph type="subTitle" idx="1"/>
          </p:nvPr>
        </p:nvSpPr>
        <p:spPr>
          <a:xfrm>
            <a:off x="304800" y="1294229"/>
            <a:ext cx="8610600" cy="5182772"/>
          </a:xfrm>
        </p:spPr>
        <p:txBody>
          <a:bodyPr>
            <a:normAutofit/>
          </a:bodyPr>
          <a:lstStyle/>
          <a:p>
            <a:pPr marL="514350" indent="-514350" algn="just">
              <a:buFont typeface="Wingdings" panose="05000000000000000000" pitchFamily="2" charset="2"/>
              <a:buChar char="§"/>
            </a:pPr>
            <a:r>
              <a:rPr lang="en-GB" sz="2800" dirty="0">
                <a:solidFill>
                  <a:schemeClr val="tx1"/>
                </a:solidFill>
              </a:rPr>
              <a:t>Complete automatic Moodle delivery and reconciliation before claiming end-to-end live synchronisation.</a:t>
            </a:r>
          </a:p>
          <a:p>
            <a:pPr marL="514350" indent="-514350" algn="just">
              <a:buFont typeface="Wingdings" panose="05000000000000000000" pitchFamily="2" charset="2"/>
              <a:buChar char="§"/>
            </a:pPr>
            <a:r>
              <a:rPr lang="en-GB" sz="2800" dirty="0">
                <a:solidFill>
                  <a:schemeClr val="tx1"/>
                </a:solidFill>
              </a:rPr>
              <a:t>Implement and evaluate LTI launch and the governed student assistant.</a:t>
            </a:r>
          </a:p>
          <a:p>
            <a:pPr marL="514350" indent="-514350" algn="just">
              <a:buFont typeface="Wingdings" panose="05000000000000000000" pitchFamily="2" charset="2"/>
              <a:buChar char="§"/>
            </a:pPr>
            <a:r>
              <a:rPr lang="en-GB" sz="2800" dirty="0">
                <a:solidFill>
                  <a:schemeClr val="tx1"/>
                </a:solidFill>
              </a:rPr>
              <a:t>Conduct supervised user acceptance, accessibility and recovery exercises.</a:t>
            </a:r>
          </a:p>
          <a:p>
            <a:pPr marL="514350" indent="-514350" algn="just">
              <a:buFont typeface="Wingdings" panose="05000000000000000000" pitchFamily="2" charset="2"/>
              <a:buChar char="§"/>
            </a:pPr>
            <a:r>
              <a:rPr lang="en-GB" sz="2800" dirty="0">
                <a:solidFill>
                  <a:schemeClr val="tx1"/>
                </a:solidFill>
              </a:rPr>
              <a:t>Confirm institutional policies before operational adoption.</a:t>
            </a:r>
          </a:p>
        </p:txBody>
      </p:sp>
      <p:sp>
        <p:nvSpPr>
          <p:cNvPr id="5" name="Slide Number Placeholder 4"/>
          <p:cNvSpPr>
            <a:spLocks noGrp="1"/>
          </p:cNvSpPr>
          <p:nvPr>
            <p:ph type="sldNum" sz="quarter" idx="12"/>
          </p:nvPr>
        </p:nvSpPr>
        <p:spPr/>
        <p:txBody>
          <a:bodyPr/>
          <a:lstStyle/>
          <a:p>
            <a:fld id="{B05B2CF3-79DA-4FD7-92C8-684048778C6E}" type="slidenum">
              <a:rPr lang="en-GB" smtClean="0"/>
              <a:pPr/>
              <a:t>38</a:t>
            </a:fld>
            <a:endParaRPr lang="en-GB"/>
          </a:p>
        </p:txBody>
      </p:sp>
    </p:spTree>
    <p:extLst>
      <p:ext uri="{BB962C8B-B14F-4D97-AF65-F5344CB8AC3E}">
        <p14:creationId xmlns:p14="http://schemas.microsoft.com/office/powerpoint/2010/main" val="31390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1"/>
            <a:ext cx="7772400" cy="1066800"/>
          </a:xfrm>
        </p:spPr>
        <p:txBody>
          <a:bodyPr>
            <a:normAutofit/>
          </a:bodyPr>
          <a:lstStyle/>
          <a:p>
            <a:r>
              <a:rPr lang="en-GB" b="1" dirty="0">
                <a:cs typeface="Times New Roman" panose="02020603050405020304" pitchFamily="18" charset="0"/>
              </a:rPr>
              <a:t>REFERENCES</a:t>
            </a:r>
            <a:endParaRPr lang="en-GB" b="1" dirty="0"/>
          </a:p>
        </p:txBody>
      </p:sp>
      <p:sp>
        <p:nvSpPr>
          <p:cNvPr id="4" name="Subtitle 3"/>
          <p:cNvSpPr>
            <a:spLocks noGrp="1"/>
          </p:cNvSpPr>
          <p:nvPr>
            <p:ph type="subTitle" idx="1"/>
          </p:nvPr>
        </p:nvSpPr>
        <p:spPr>
          <a:xfrm>
            <a:off x="304800" y="1066799"/>
            <a:ext cx="8610600" cy="5638799"/>
          </a:xfrm>
        </p:spPr>
        <p:txBody>
          <a:bodyPr>
            <a:normAutofit/>
          </a:bodyPr>
          <a:lstStyle/>
          <a:p>
            <a:pPr marL="342900" indent="-342900" algn="just">
              <a:buFont typeface="+mj-lt"/>
              <a:buAutoNum type="arabicPeriod"/>
            </a:pPr>
            <a:r>
              <a:rPr lang="en-GB" sz="1800" dirty="0">
                <a:solidFill>
                  <a:schemeClr val="tx1"/>
                </a:solidFill>
              </a:rPr>
              <a:t>Moodle. Web services and External Services API documentation. MoodleDocs and Moodle Developer Resources. Accessed 16 October 2026.</a:t>
            </a:r>
          </a:p>
          <a:p>
            <a:pPr marL="342900" indent="-342900" algn="just">
              <a:buFont typeface="+mj-lt"/>
              <a:buAutoNum type="arabicPeriod"/>
            </a:pPr>
            <a:r>
              <a:rPr lang="en-GB" sz="1800" dirty="0" err="1">
                <a:solidFill>
                  <a:schemeClr val="tx1"/>
                </a:solidFill>
              </a:rPr>
              <a:t>1EdTech Consortium. Learning Tools Interoperability Core Specification 1.3. Final Release, 2019.</a:t>
            </a:r>
          </a:p>
          <a:p>
            <a:pPr marL="342900" indent="-342900" algn="just">
              <a:buFont typeface="+mj-lt"/>
              <a:buAutoNum type="arabicPeriod"/>
            </a:pPr>
            <a:r>
              <a:rPr lang="en-GB" sz="1800" dirty="0" err="1">
                <a:solidFill>
                  <a:schemeClr val="tx1"/>
                </a:solidFill>
              </a:rPr>
              <a:t>NIST. Artificial Intelligence Risk Management Framework (AI RMF 1.0). NIST AI 100-1, 2023. DOI: 10.6028/NIST.AI.100-1.</a:t>
            </a:r>
          </a:p>
          <a:p>
            <a:pPr marL="342900" indent="-342900" algn="just">
              <a:buFont typeface="+mj-lt"/>
              <a:buAutoNum type="arabicPeriod"/>
            </a:pPr>
            <a:r>
              <a:rPr lang="en-GB" sz="1800" dirty="0" err="1">
                <a:solidFill>
                  <a:schemeClr val="tx1"/>
                </a:solidFill>
              </a:rPr>
              <a:t>Project evidence: our handbook, implementation records and verification logs, checkpoint 16 October 2026.</a:t>
            </a:r>
          </a:p>
        </p:txBody>
      </p:sp>
      <p:sp>
        <p:nvSpPr>
          <p:cNvPr id="5" name="Slide Number Placeholder 4"/>
          <p:cNvSpPr>
            <a:spLocks noGrp="1"/>
          </p:cNvSpPr>
          <p:nvPr>
            <p:ph type="sldNum" sz="quarter" idx="12"/>
          </p:nvPr>
        </p:nvSpPr>
        <p:spPr/>
        <p:txBody>
          <a:bodyPr/>
          <a:lstStyle/>
          <a:p>
            <a:fld id="{B05B2CF3-79DA-4FD7-92C8-684048778C6E}" type="slidenum">
              <a:rPr lang="en-GB" smtClean="0"/>
              <a:pPr/>
              <a:t>39</a:t>
            </a:fld>
            <a:endParaRPr lang="en-GB" dirty="0"/>
          </a:p>
        </p:txBody>
      </p:sp>
    </p:spTree>
    <p:extLst>
      <p:ext uri="{BB962C8B-B14F-4D97-AF65-F5344CB8AC3E}">
        <p14:creationId xmlns:p14="http://schemas.microsoft.com/office/powerpoint/2010/main" val="1883365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4.1 PROGRAMME CATALOGUE</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26</a:t>
            </a:fld>
            <a:endParaRPr lang="en-GB"/>
          </a:p>
        </p:txBody>
      </p:sp>
      <p:pic>
        <p:nvPicPr>
          <p:cNvPr id="90" name="4.1 PROGRAMME CATALOGUE" descr="Complete original 4.1-programme-catalogue.png"/>
          <p:cNvPicPr/>
          <p:nvPr/>
        </p:nvPicPr>
        <p:blipFill>
          <a:blip r:embed="rIdWorkflowImage"/>
          <a:stretch>
            <a:fillRect/>
          </a:stretch>
        </p:blipFill>
        <p:spPr>
          <a:xfrm>
            <a:off x="2180079" y="1417320"/>
            <a:ext cx="4783842"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4.2 APPLICATION DRAFT</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27</a:t>
            </a:fld>
            <a:endParaRPr lang="en-GB"/>
          </a:p>
        </p:txBody>
      </p:sp>
      <p:pic>
        <p:nvPicPr>
          <p:cNvPr id="90" name="4.2 APPLICATION DRAFT" descr="Complete original 4.2-application-form-saved-draft.png"/>
          <p:cNvPicPr/>
          <p:nvPr/>
        </p:nvPicPr>
        <p:blipFill>
          <a:blip r:embed="rIdWorkflowImage"/>
          <a:stretch>
            <a:fillRect/>
          </a:stretch>
        </p:blipFill>
        <p:spPr>
          <a:xfrm>
            <a:off x="2301850" y="1417320"/>
            <a:ext cx="4540301"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4.3 SUBMISSION RECEIPT</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28</a:t>
            </a:fld>
            <a:endParaRPr lang="en-GB"/>
          </a:p>
        </p:txBody>
      </p:sp>
      <p:pic>
        <p:nvPicPr>
          <p:cNvPr id="90" name="4.3 SUBMISSION RECEIPT" descr="Complete original 4.3-application-submission-receipt.png"/>
          <p:cNvPicPr/>
          <p:nvPr/>
        </p:nvPicPr>
        <p:blipFill>
          <a:blip r:embed="rIdWorkflowImage"/>
          <a:stretch>
            <a:fillRect/>
          </a:stretch>
        </p:blipFill>
        <p:spPr>
          <a:xfrm>
            <a:off x="3846328" y="1417320"/>
            <a:ext cx="1451344"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4.4 ADMISSIONS QUEUE</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29</a:t>
            </a:fld>
            <a:endParaRPr lang="en-GB"/>
          </a:p>
        </p:txBody>
      </p:sp>
      <p:pic>
        <p:nvPicPr>
          <p:cNvPr id="90" name="4.4 ADMISSIONS QUEUE" descr="Complete original 4.4-admissions-queue.png"/>
          <p:cNvPicPr/>
          <p:nvPr/>
        </p:nvPicPr>
        <p:blipFill>
          <a:blip r:embed="rIdWorkflowImage"/>
          <a:stretch>
            <a:fillRect/>
          </a:stretch>
        </p:blipFill>
        <p:spPr>
          <a:xfrm>
            <a:off x="2806262" y="1417320"/>
            <a:ext cx="3531476"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4.5 REVIEW DECISION</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30</a:t>
            </a:fld>
            <a:endParaRPr lang="en-GB"/>
          </a:p>
        </p:txBody>
      </p:sp>
      <p:pic>
        <p:nvPicPr>
          <p:cNvPr id="90" name="4.5 REVIEW DECISION" descr="Complete original 4.5-admissions-review-and-decision.png"/>
          <p:cNvPicPr/>
          <p:nvPr/>
        </p:nvPicPr>
        <p:blipFill>
          <a:blip r:embed="rIdWorkflowImage"/>
          <a:stretch>
            <a:fillRect/>
          </a:stretch>
        </p:blipFill>
        <p:spPr>
          <a:xfrm>
            <a:off x="3649230" y="1417320"/>
            <a:ext cx="1845540"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4.6 COURSE REGISTRATION</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31</a:t>
            </a:fld>
            <a:endParaRPr lang="en-GB"/>
          </a:p>
        </p:txBody>
      </p:sp>
      <p:pic>
        <p:nvPicPr>
          <p:cNvPr id="90" name="4.6 COURSE REGISTRATION" descr="Complete original 4.6-course-selection-draft.png"/>
          <p:cNvPicPr/>
          <p:nvPr/>
        </p:nvPicPr>
        <p:blipFill>
          <a:blip r:embed="rIdWorkflowImage"/>
          <a:stretch>
            <a:fillRect/>
          </a:stretch>
        </p:blipFill>
        <p:spPr>
          <a:xfrm>
            <a:off x="3157977" y="1417320"/>
            <a:ext cx="2828047"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4.7 STUDENT FINANCE</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32</a:t>
            </a:fld>
            <a:endParaRPr lang="en-GB"/>
          </a:p>
        </p:txBody>
      </p:sp>
      <p:pic>
        <p:nvPicPr>
          <p:cNvPr id="90" name="4.7 STUDENT FINANCE" descr="Complete original 4.7-student-finance.png"/>
          <p:cNvPicPr/>
          <p:nvPr/>
        </p:nvPicPr>
        <p:blipFill>
          <a:blip r:embed="rIdWorkflowImage"/>
          <a:stretch>
            <a:fillRect/>
          </a:stretch>
        </p:blipFill>
        <p:spPr>
          <a:xfrm>
            <a:off x="2734948" y="1417320"/>
            <a:ext cx="3674103"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4.8 MOODLE DASHBOARD</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33</a:t>
            </a:fld>
            <a:endParaRPr lang="en-GB"/>
          </a:p>
        </p:txBody>
      </p:sp>
      <p:pic>
        <p:nvPicPr>
          <p:cNvPr id="90" name="4.8 MOODLE DASHBOARD" descr="Complete original 4.8-moodle-integration-dashboard.png"/>
          <p:cNvPicPr/>
          <p:nvPr/>
        </p:nvPicPr>
        <p:blipFill>
          <a:blip r:embed="rIdWorkflowImage"/>
          <a:stretch>
            <a:fillRect/>
          </a:stretch>
        </p:blipFill>
        <p:spPr>
          <a:xfrm>
            <a:off x="826252" y="1417320"/>
            <a:ext cx="7491496"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4.9 ASSESSMENT RESULTS</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34</a:t>
            </a:fld>
            <a:endParaRPr lang="en-GB"/>
          </a:p>
        </p:txBody>
      </p:sp>
      <p:pic>
        <p:nvPicPr>
          <p:cNvPr id="90" name="4.9 ASSESSMENT RESULTS" descr="Complete original 4.9-published-student-results.png"/>
          <p:cNvPicPr/>
          <p:nvPr/>
        </p:nvPicPr>
        <p:blipFill>
          <a:blip r:embed="rIdWorkflowImage"/>
          <a:stretch>
            <a:fillRect/>
          </a:stretch>
        </p:blipFill>
        <p:spPr>
          <a:xfrm>
            <a:off x="870668" y="1417320"/>
            <a:ext cx="7402664"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4.10 STUDENT TIMETABLE</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35</a:t>
            </a:fld>
            <a:endParaRPr lang="en-GB"/>
          </a:p>
        </p:txBody>
      </p:sp>
      <p:pic>
        <p:nvPicPr>
          <p:cNvPr id="90" name="4.10 STUDENT TIMETABLE" descr="Complete original 4.10-student-timetable-week.png"/>
          <p:cNvPicPr/>
          <p:nvPr/>
        </p:nvPicPr>
        <p:blipFill>
          <a:blip r:embed="rIdWorkflowImage"/>
          <a:stretch>
            <a:fillRect/>
          </a:stretch>
        </p:blipFill>
        <p:spPr>
          <a:xfrm>
            <a:off x="3310364" y="1417320"/>
            <a:ext cx="2523272"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4.11 AUDIT AND OPERATIONS</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36</a:t>
            </a:fld>
            <a:endParaRPr lang="en-GB"/>
          </a:p>
        </p:txBody>
      </p:sp>
      <p:pic>
        <p:nvPicPr>
          <p:cNvPr id="90" name="4.11 AUDIT AND OPERATIONS" descr="Complete original 4.11-connected-audit-trail.png"/>
          <p:cNvPicPr/>
          <p:nvPr/>
        </p:nvPicPr>
        <p:blipFill>
          <a:blip r:embed="rIdWorkflowImage"/>
          <a:stretch>
            <a:fillRect/>
          </a:stretch>
        </p:blipFill>
        <p:spPr>
          <a:xfrm>
            <a:off x="3119597" y="1417320"/>
            <a:ext cx="2904807"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Complete capture. Enlarged page details follow the references.</a:t>
            </a:r>
          </a:p>
        </p:txBody>
      </p:sp>
    </p:spTree>
    <p:extLst>
      <p:ext uri="{BB962C8B-B14F-4D97-AF65-F5344CB8AC3E}">
        <p14:creationId xmlns:p14="http://schemas.microsoft.com/office/powerpoint/2010/main" val="10177834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SYSTEM ARCHITECTURE</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17</a:t>
            </a:fld>
            <a:endParaRPr lang="en-GB"/>
          </a:p>
        </p:txBody>
      </p:sp>
      <p:pic>
        <p:nvPicPr>
          <p:cNvPr id="90" name="SYSTEM ARCHITECTURE" descr="Complete original 01-system-architecture.png"/>
          <p:cNvPicPr/>
          <p:nvPr/>
        </p:nvPicPr>
        <p:blipFill>
          <a:blip r:embed="rIdWorkflowImage"/>
          <a:stretch>
            <a:fillRect/>
          </a:stretch>
        </p:blipFill>
        <p:spPr>
          <a:xfrm>
            <a:off x="571220" y="1417320"/>
            <a:ext cx="8001560" cy="4480560"/>
          </a:xfrm>
          <a:prstGeom prst="rect">
            <a:avLst/>
          </a:prstGeom>
        </p:spPr>
      </p:pic>
      <p:sp>
        <p:nvSpPr>
          <p:cNvPr id="91" name="Diagram explanation"/>
          <p:cNvSpPr txBox="1"/>
          <p:nvPr/>
        </p:nvSpPr>
        <p:spPr>
          <a:xfrm>
            <a:off x="320040" y="6080760"/>
            <a:ext cx="8503920" cy="347472"/>
          </a:xfrm>
        </p:spPr>
        <p:txBody>
          <a:bodyPr anchor="ctr"/>
          <a:lstStyle/>
          <a:p>
            <a:pPr algn="ctr"/>
            <a:r>
              <a:rPr sz="1800">
                <a:latin typeface="Arial"/>
              </a:rPr>
              <a:t>SIS decisions commit before external delivery.</a:t>
            </a:r>
          </a:p>
        </p:txBody>
      </p:sp>
    </p:spTree>
    <p:extLst>
      <p:ext uri="{BB962C8B-B14F-4D97-AF65-F5344CB8AC3E}">
        <p14:creationId xmlns:p14="http://schemas.microsoft.com/office/powerpoint/2010/main" val="1017783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DOMAIN CLASS MODEL</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18</a:t>
            </a:fld>
            <a:endParaRPr lang="en-GB"/>
          </a:p>
        </p:txBody>
      </p:sp>
      <p:pic>
        <p:nvPicPr>
          <p:cNvPr id="90" name="DOMAIN CLASS MODEL" descr="Complete original 02-domain-class-model.png"/>
          <p:cNvPicPr/>
          <p:nvPr/>
        </p:nvPicPr>
        <p:blipFill>
          <a:blip r:embed="rIdWorkflowImage"/>
          <a:stretch>
            <a:fillRect/>
          </a:stretch>
        </p:blipFill>
        <p:spPr>
          <a:xfrm>
            <a:off x="320040" y="2251498"/>
            <a:ext cx="8503920" cy="2812205"/>
          </a:xfrm>
          <a:prstGeom prst="rect">
            <a:avLst/>
          </a:prstGeom>
        </p:spPr>
      </p:pic>
      <p:sp>
        <p:nvSpPr>
          <p:cNvPr id="91" name="Diagram explanation"/>
          <p:cNvSpPr txBox="1"/>
          <p:nvPr/>
        </p:nvSpPr>
        <p:spPr>
          <a:xfrm>
            <a:off x="320040" y="6080760"/>
            <a:ext cx="8503920" cy="347472"/>
          </a:xfrm>
        </p:spPr>
        <p:txBody>
          <a:bodyPr anchor="ctr"/>
          <a:lstStyle/>
          <a:p>
            <a:pPr algn="ctr"/>
            <a:r>
              <a:rPr sz="1800">
                <a:latin typeface="Arial"/>
              </a:rPr>
              <a:t>Solid: schema relation. Dashed: scalar-key lookup.</a:t>
            </a:r>
          </a:p>
        </p:txBody>
      </p:sp>
    </p:spTree>
    <p:extLst>
      <p:ext uri="{BB962C8B-B14F-4D97-AF65-F5344CB8AC3E}">
        <p14:creationId xmlns:p14="http://schemas.microsoft.com/office/powerpoint/2010/main" val="10177834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REGISTRATION SEQUENCE</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19</a:t>
            </a:fld>
            <a:endParaRPr lang="en-GB"/>
          </a:p>
        </p:txBody>
      </p:sp>
      <p:pic>
        <p:nvPicPr>
          <p:cNvPr id="90" name="REGISTRATION SEQUENCE" descr="Complete original 03-registration-sequence.png"/>
          <p:cNvPicPr/>
          <p:nvPr/>
        </p:nvPicPr>
        <p:blipFill>
          <a:blip r:embed="rIdWorkflowImage"/>
          <a:stretch>
            <a:fillRect/>
          </a:stretch>
        </p:blipFill>
        <p:spPr>
          <a:xfrm>
            <a:off x="1447399" y="1417320"/>
            <a:ext cx="6249202" cy="4480560"/>
          </a:xfrm>
          <a:prstGeom prst="rect">
            <a:avLst/>
          </a:prstGeom>
        </p:spPr>
      </p:pic>
      <p:sp>
        <p:nvSpPr>
          <p:cNvPr id="91" name="Diagram explanation"/>
          <p:cNvSpPr txBox="1"/>
          <p:nvPr/>
        </p:nvSpPr>
        <p:spPr>
          <a:xfrm>
            <a:off x="320040" y="6080760"/>
            <a:ext cx="8503920" cy="347472"/>
          </a:xfrm>
        </p:spPr>
        <p:txBody>
          <a:bodyPr anchor="ctr"/>
          <a:lstStyle/>
          <a:p>
            <a:pPr algn="ctr"/>
            <a:r>
              <a:rPr sz="1800">
                <a:latin typeface="Arial"/>
              </a:rPr>
              <a:t>A Moodle delay does not undo a valid registration.</a:t>
            </a:r>
          </a:p>
        </p:txBody>
      </p:sp>
    </p:spTree>
    <p:extLst>
      <p:ext uri="{BB962C8B-B14F-4D97-AF65-F5344CB8AC3E}">
        <p14:creationId xmlns:p14="http://schemas.microsoft.com/office/powerpoint/2010/main" val="10177834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DESIGN CLASS DIAGRAM</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20</a:t>
            </a:fld>
            <a:endParaRPr lang="en-GB"/>
          </a:p>
        </p:txBody>
      </p:sp>
      <p:pic>
        <p:nvPicPr>
          <p:cNvPr id="90" name="DESIGN CLASS DIAGRAM" descr="Complete original 04-design-class-diagram.png"/>
          <p:cNvPicPr/>
          <p:nvPr/>
        </p:nvPicPr>
        <p:blipFill>
          <a:blip r:embed="rIdWorkflowImage"/>
          <a:stretch>
            <a:fillRect/>
          </a:stretch>
        </p:blipFill>
        <p:spPr>
          <a:xfrm>
            <a:off x="320040" y="1755122"/>
            <a:ext cx="8503920" cy="3804955"/>
          </a:xfrm>
          <a:prstGeom prst="rect">
            <a:avLst/>
          </a:prstGeom>
        </p:spPr>
      </p:pic>
      <p:sp>
        <p:nvSpPr>
          <p:cNvPr id="91" name="Diagram explanation"/>
          <p:cNvSpPr txBox="1"/>
          <p:nvPr/>
        </p:nvSpPr>
        <p:spPr>
          <a:xfrm>
            <a:off x="320040" y="6080760"/>
            <a:ext cx="8503920" cy="347472"/>
          </a:xfrm>
        </p:spPr>
        <p:txBody>
          <a:bodyPr anchor="ctr"/>
          <a:lstStyle/>
          <a:p>
            <a:pPr algn="ctr"/>
            <a:r>
              <a:rPr sz="1800">
                <a:latin typeface="Arial"/>
              </a:rPr>
              <a:t>Controllers call services; adapters isolate delivery.</a:t>
            </a:r>
          </a:p>
        </p:txBody>
      </p:sp>
    </p:spTree>
    <p:extLst>
      <p:ext uri="{BB962C8B-B14F-4D97-AF65-F5344CB8AC3E}">
        <p14:creationId xmlns:p14="http://schemas.microsoft.com/office/powerpoint/2010/main" val="10177834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TIMETABLE PUBLICATION</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21</a:t>
            </a:fld>
            <a:endParaRPr lang="en-GB"/>
          </a:p>
        </p:txBody>
      </p:sp>
      <p:pic>
        <p:nvPicPr>
          <p:cNvPr id="90" name="TIMETABLE PUBLICATION" descr="Complete original 05-timetable-activity.png"/>
          <p:cNvPicPr/>
          <p:nvPr/>
        </p:nvPicPr>
        <p:blipFill>
          <a:blip r:embed="rIdWorkflowImage"/>
          <a:stretch>
            <a:fillRect/>
          </a:stretch>
        </p:blipFill>
        <p:spPr>
          <a:xfrm>
            <a:off x="1712068" y="1417320"/>
            <a:ext cx="5719864" cy="4480560"/>
          </a:xfrm>
          <a:prstGeom prst="rect">
            <a:avLst/>
          </a:prstGeom>
        </p:spPr>
      </p:pic>
      <p:sp>
        <p:nvSpPr>
          <p:cNvPr id="91" name="Diagram explanation"/>
          <p:cNvSpPr txBox="1"/>
          <p:nvPr/>
        </p:nvSpPr>
        <p:spPr>
          <a:xfrm>
            <a:off x="320040" y="6080760"/>
            <a:ext cx="8503920" cy="347472"/>
          </a:xfrm>
        </p:spPr>
        <p:txBody>
          <a:bodyPr anchor="ctr"/>
          <a:lstStyle/>
          <a:p>
            <a:pPr algn="ctr"/>
            <a:r>
              <a:rPr sz="1800">
                <a:latin typeface="Arial"/>
              </a:rPr>
              <a:t>Independent review precedes publication.</a:t>
            </a:r>
          </a:p>
        </p:txBody>
      </p:sp>
    </p:spTree>
    <p:extLst>
      <p:ext uri="{BB962C8B-B14F-4D97-AF65-F5344CB8AC3E}">
        <p14:creationId xmlns:p14="http://schemas.microsoft.com/office/powerpoint/2010/main" val="10177834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CATALOGUE 1/2</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40</a:t>
            </a:fld>
            <a:endParaRPr lang="en-GB"/>
          </a:p>
        </p:txBody>
      </p:sp>
      <p:pic>
        <p:nvPicPr>
          <p:cNvPr id="90" name="Project evidence image" descr="Continuation 1 of 2, full width, from 4.1-programme-catalogue.png"/>
          <p:cNvPicPr/>
          <p:nvPr/>
        </p:nvPicPr>
        <p:blipFill>
          <a:blip r:embed="rIdFullPageImage"/>
          <a:srcRect l="0" r="0" t="0" b="46743"/>
          <a:stretch>
            <a:fillRect/>
          </a:stretch>
        </p:blipFill>
        <p:spPr>
          <a:xfrm>
            <a:off x="320040" y="1536706"/>
            <a:ext cx="8503920" cy="4241788"/>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1 of 2</a:t>
            </a:r>
          </a:p>
        </p:txBody>
      </p:sp>
    </p:spTree>
    <p:extLst>
      <p:ext uri="{BB962C8B-B14F-4D97-AF65-F5344CB8AC3E}">
        <p14:creationId xmlns:p14="http://schemas.microsoft.com/office/powerpoint/2010/main" val="10177834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CATALOGUE 2/2</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41</a:t>
            </a:fld>
            <a:endParaRPr lang="en-GB"/>
          </a:p>
        </p:txBody>
      </p:sp>
      <p:pic>
        <p:nvPicPr>
          <p:cNvPr id="90" name="Project evidence image" descr="Continuation 2 of 2, full width, from 4.1-programme-catalogue.png"/>
          <p:cNvPicPr/>
          <p:nvPr/>
        </p:nvPicPr>
        <p:blipFill>
          <a:blip r:embed="rIdFullPageImage"/>
          <a:srcRect l="0" r="0" t="46743" b="0"/>
          <a:stretch>
            <a:fillRect/>
          </a:stretch>
        </p:blipFill>
        <p:spPr>
          <a:xfrm>
            <a:off x="320040" y="1536706"/>
            <a:ext cx="8503920" cy="4241788"/>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2 of 2</a:t>
            </a:r>
          </a:p>
        </p:txBody>
      </p:sp>
    </p:spTree>
    <p:extLst>
      <p:ext uri="{BB962C8B-B14F-4D97-AF65-F5344CB8AC3E}">
        <p14:creationId xmlns:p14="http://schemas.microsoft.com/office/powerpoint/2010/main" val="1017783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APPLICATION 1/2</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42</a:t>
            </a:fld>
            <a:endParaRPr lang="en-GB"/>
          </a:p>
        </p:txBody>
      </p:sp>
      <p:pic>
        <p:nvPicPr>
          <p:cNvPr id="90" name="Project evidence image" descr="Continuation 1 of 2, full width, from 4.2-application-form-saved-draft.png"/>
          <p:cNvPicPr/>
          <p:nvPr/>
        </p:nvPicPr>
        <p:blipFill>
          <a:blip r:embed="rIdFullPageImage"/>
          <a:srcRect l="0" r="0" t="0" b="46909"/>
          <a:stretch>
            <a:fillRect/>
          </a:stretch>
        </p:blipFill>
        <p:spPr>
          <a:xfrm>
            <a:off x="320040" y="1429898"/>
            <a:ext cx="8503920" cy="4455403"/>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1 of 2</a:t>
            </a:r>
          </a:p>
        </p:txBody>
      </p:sp>
    </p:spTree>
    <p:extLst>
      <p:ext uri="{BB962C8B-B14F-4D97-AF65-F5344CB8AC3E}">
        <p14:creationId xmlns:p14="http://schemas.microsoft.com/office/powerpoint/2010/main" val="10177834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APPLICATION 2/2</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43</a:t>
            </a:fld>
            <a:endParaRPr lang="en-GB"/>
          </a:p>
        </p:txBody>
      </p:sp>
      <p:pic>
        <p:nvPicPr>
          <p:cNvPr id="90" name="Project evidence image" descr="Continuation 2 of 2, full width, from 4.2-application-form-saved-draft.png"/>
          <p:cNvPicPr/>
          <p:nvPr/>
        </p:nvPicPr>
        <p:blipFill>
          <a:blip r:embed="rIdFullPageImage"/>
          <a:srcRect l="0" r="0" t="46909" b="0"/>
          <a:stretch>
            <a:fillRect/>
          </a:stretch>
        </p:blipFill>
        <p:spPr>
          <a:xfrm>
            <a:off x="320040" y="1429898"/>
            <a:ext cx="8503920" cy="4455403"/>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2 of 2</a:t>
            </a:r>
          </a:p>
        </p:txBody>
      </p:sp>
    </p:spTree>
    <p:extLst>
      <p:ext uri="{BB962C8B-B14F-4D97-AF65-F5344CB8AC3E}">
        <p14:creationId xmlns:p14="http://schemas.microsoft.com/office/powerpoint/2010/main" val="10177834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RECEIPT 1/2</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44</a:t>
            </a:fld>
            <a:endParaRPr lang="en-GB"/>
          </a:p>
        </p:txBody>
      </p:sp>
      <p:pic>
        <p:nvPicPr>
          <p:cNvPr id="90" name="Project evidence image" descr="Continuation 1 of 2, full width, from 4.3-application-submission-receipt.png"/>
          <p:cNvPicPr/>
          <p:nvPr/>
        </p:nvPicPr>
        <p:blipFill>
          <a:blip r:embed="rIdFullPageImage"/>
          <a:srcRect l="0" r="0" t="0" b="47591"/>
          <a:stretch>
            <a:fillRect/>
          </a:stretch>
        </p:blipFill>
        <p:spPr>
          <a:xfrm>
            <a:off x="3187358" y="1417320"/>
            <a:ext cx="2769284"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1 of 2</a:t>
            </a:r>
          </a:p>
        </p:txBody>
      </p:sp>
    </p:spTree>
    <p:extLst>
      <p:ext uri="{BB962C8B-B14F-4D97-AF65-F5344CB8AC3E}">
        <p14:creationId xmlns:p14="http://schemas.microsoft.com/office/powerpoint/2010/main" val="1017783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RECEIPT 2/2</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45</a:t>
            </a:fld>
            <a:endParaRPr lang="en-GB"/>
          </a:p>
        </p:txBody>
      </p:sp>
      <p:pic>
        <p:nvPicPr>
          <p:cNvPr id="90" name="Project evidence image" descr="Continuation 2 of 2, full width, from 4.3-application-submission-receipt.png"/>
          <p:cNvPicPr/>
          <p:nvPr/>
        </p:nvPicPr>
        <p:blipFill>
          <a:blip r:embed="rIdFullPageImage"/>
          <a:srcRect l="0" r="0" t="47591" b="0"/>
          <a:stretch>
            <a:fillRect/>
          </a:stretch>
        </p:blipFill>
        <p:spPr>
          <a:xfrm>
            <a:off x="3187358" y="1417320"/>
            <a:ext cx="2769284"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2 of 2</a:t>
            </a:r>
          </a:p>
        </p:txBody>
      </p:sp>
    </p:spTree>
    <p:extLst>
      <p:ext uri="{BB962C8B-B14F-4D97-AF65-F5344CB8AC3E}">
        <p14:creationId xmlns:p14="http://schemas.microsoft.com/office/powerpoint/2010/main" val="1017783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ADMISSIONS QUEUE 1/2</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46</a:t>
            </a:fld>
            <a:endParaRPr lang="en-GB"/>
          </a:p>
        </p:txBody>
      </p:sp>
      <p:pic>
        <p:nvPicPr>
          <p:cNvPr id="90" name="Project evidence image" descr="Continuation 1 of 2, full width, from 4.4-admissions-queue.png"/>
          <p:cNvPicPr/>
          <p:nvPr/>
        </p:nvPicPr>
        <p:blipFill>
          <a:blip r:embed="rIdFullPageImage"/>
          <a:srcRect l="0" r="0" t="0" b="47564"/>
          <a:stretch>
            <a:fillRect/>
          </a:stretch>
        </p:blipFill>
        <p:spPr>
          <a:xfrm>
            <a:off x="1204565" y="1417320"/>
            <a:ext cx="6734871"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1 of 2</a:t>
            </a:r>
          </a:p>
        </p:txBody>
      </p:sp>
    </p:spTree>
    <p:extLst>
      <p:ext uri="{BB962C8B-B14F-4D97-AF65-F5344CB8AC3E}">
        <p14:creationId xmlns:p14="http://schemas.microsoft.com/office/powerpoint/2010/main" val="10177834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ADMISSIONS QUEUE 2/2</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47</a:t>
            </a:fld>
            <a:endParaRPr lang="en-GB"/>
          </a:p>
        </p:txBody>
      </p:sp>
      <p:pic>
        <p:nvPicPr>
          <p:cNvPr id="90" name="Project evidence image" descr="Continuation 2 of 2, full width, from 4.4-admissions-queue.png"/>
          <p:cNvPicPr/>
          <p:nvPr/>
        </p:nvPicPr>
        <p:blipFill>
          <a:blip r:embed="rIdFullPageImage"/>
          <a:srcRect l="0" r="0" t="47564" b="0"/>
          <a:stretch>
            <a:fillRect/>
          </a:stretch>
        </p:blipFill>
        <p:spPr>
          <a:xfrm>
            <a:off x="1204565" y="1417320"/>
            <a:ext cx="6734871"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2 of 2</a:t>
            </a:r>
          </a:p>
        </p:txBody>
      </p:sp>
    </p:spTree>
    <p:extLst>
      <p:ext uri="{BB962C8B-B14F-4D97-AF65-F5344CB8AC3E}">
        <p14:creationId xmlns:p14="http://schemas.microsoft.com/office/powerpoint/2010/main" val="1017783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REVIEW DECISION 1/4</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48</a:t>
            </a:fld>
            <a:endParaRPr lang="en-GB"/>
          </a:p>
        </p:txBody>
      </p:sp>
      <p:pic>
        <p:nvPicPr>
          <p:cNvPr id="90" name="Project evidence image" descr="Continuation 1 of 4, full width, from 4.5-admissions-review-and-decision.png"/>
          <p:cNvPicPr/>
          <p:nvPr/>
        </p:nvPicPr>
        <p:blipFill>
          <a:blip r:embed="rIdFullPageImage"/>
          <a:srcRect l="0" r="0" t="0" b="73112"/>
          <a:stretch>
            <a:fillRect/>
          </a:stretch>
        </p:blipFill>
        <p:spPr>
          <a:xfrm>
            <a:off x="1140082" y="1417320"/>
            <a:ext cx="6863837"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1 of 4</a:t>
            </a:r>
          </a:p>
        </p:txBody>
      </p:sp>
    </p:spTree>
    <p:extLst>
      <p:ext uri="{BB962C8B-B14F-4D97-AF65-F5344CB8AC3E}">
        <p14:creationId xmlns:p14="http://schemas.microsoft.com/office/powerpoint/2010/main" val="10177834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REVIEW DECISION 2/4</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49</a:t>
            </a:fld>
            <a:endParaRPr lang="en-GB"/>
          </a:p>
        </p:txBody>
      </p:sp>
      <p:pic>
        <p:nvPicPr>
          <p:cNvPr id="90" name="Project evidence image" descr="Continuation 2 of 4, full width, from 4.5-admissions-review-and-decision.png"/>
          <p:cNvPicPr/>
          <p:nvPr/>
        </p:nvPicPr>
        <p:blipFill>
          <a:blip r:embed="rIdFullPageImage"/>
          <a:srcRect l="0" r="0" t="24371" b="48741"/>
          <a:stretch>
            <a:fillRect/>
          </a:stretch>
        </p:blipFill>
        <p:spPr>
          <a:xfrm>
            <a:off x="1140082" y="1417320"/>
            <a:ext cx="6863837"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2 of 4</a:t>
            </a:r>
          </a:p>
        </p:txBody>
      </p:sp>
    </p:spTree>
    <p:extLst>
      <p:ext uri="{BB962C8B-B14F-4D97-AF65-F5344CB8AC3E}">
        <p14:creationId xmlns:p14="http://schemas.microsoft.com/office/powerpoint/2010/main" val="1017783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REVIEW DECISION 3/4</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50</a:t>
            </a:fld>
            <a:endParaRPr lang="en-GB"/>
          </a:p>
        </p:txBody>
      </p:sp>
      <p:pic>
        <p:nvPicPr>
          <p:cNvPr id="90" name="Project evidence image" descr="Continuation 3 of 4, full width, from 4.5-admissions-review-and-decision.png"/>
          <p:cNvPicPr/>
          <p:nvPr/>
        </p:nvPicPr>
        <p:blipFill>
          <a:blip r:embed="rIdFullPageImage"/>
          <a:srcRect l="0" r="0" t="48741" b="24371"/>
          <a:stretch>
            <a:fillRect/>
          </a:stretch>
        </p:blipFill>
        <p:spPr>
          <a:xfrm>
            <a:off x="1140082" y="1417320"/>
            <a:ext cx="6863837"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3 of 4</a:t>
            </a:r>
          </a:p>
        </p:txBody>
      </p:sp>
    </p:spTree>
    <p:extLst>
      <p:ext uri="{BB962C8B-B14F-4D97-AF65-F5344CB8AC3E}">
        <p14:creationId xmlns:p14="http://schemas.microsoft.com/office/powerpoint/2010/main" val="10177834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REVIEW DECISION 4/4</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51</a:t>
            </a:fld>
            <a:endParaRPr lang="en-GB"/>
          </a:p>
        </p:txBody>
      </p:sp>
      <p:pic>
        <p:nvPicPr>
          <p:cNvPr id="90" name="Project evidence image" descr="Continuation 4 of 4, full width, from 4.5-admissions-review-and-decision.png"/>
          <p:cNvPicPr/>
          <p:nvPr/>
        </p:nvPicPr>
        <p:blipFill>
          <a:blip r:embed="rIdFullPageImage"/>
          <a:srcRect l="0" r="0" t="73112" b="0"/>
          <a:stretch>
            <a:fillRect/>
          </a:stretch>
        </p:blipFill>
        <p:spPr>
          <a:xfrm>
            <a:off x="1140082" y="1417320"/>
            <a:ext cx="6863837"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4 of 4</a:t>
            </a:r>
          </a:p>
        </p:txBody>
      </p:sp>
    </p:spTree>
    <p:extLst>
      <p:ext uri="{BB962C8B-B14F-4D97-AF65-F5344CB8AC3E}">
        <p14:creationId xmlns:p14="http://schemas.microsoft.com/office/powerpoint/2010/main" val="10177834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COURSE SELECTION 1/3</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52</a:t>
            </a:fld>
            <a:endParaRPr lang="en-GB"/>
          </a:p>
        </p:txBody>
      </p:sp>
      <p:pic>
        <p:nvPicPr>
          <p:cNvPr id="90" name="Project evidence image" descr="Continuation 1 of 3, full width, from 4.6-course-selection-draft.png"/>
          <p:cNvPicPr/>
          <p:nvPr/>
        </p:nvPicPr>
        <p:blipFill>
          <a:blip r:embed="rIdFullPageImage"/>
          <a:srcRect l="0" r="0" t="0" b="64100"/>
          <a:stretch>
            <a:fillRect/>
          </a:stretch>
        </p:blipFill>
        <p:spPr>
          <a:xfrm>
            <a:off x="633253" y="1417320"/>
            <a:ext cx="7877494"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1 of 3</a:t>
            </a:r>
          </a:p>
        </p:txBody>
      </p:sp>
    </p:spTree>
    <p:extLst>
      <p:ext uri="{BB962C8B-B14F-4D97-AF65-F5344CB8AC3E}">
        <p14:creationId xmlns:p14="http://schemas.microsoft.com/office/powerpoint/2010/main" val="1017783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COURSE SELECTION 2/3</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53</a:t>
            </a:fld>
            <a:endParaRPr lang="en-GB"/>
          </a:p>
        </p:txBody>
      </p:sp>
      <p:pic>
        <p:nvPicPr>
          <p:cNvPr id="90" name="Project evidence image" descr="Continuation 2 of 3, full width, from 4.6-course-selection-draft.png"/>
          <p:cNvPicPr/>
          <p:nvPr/>
        </p:nvPicPr>
        <p:blipFill>
          <a:blip r:embed="rIdFullPageImage"/>
          <a:srcRect l="0" r="0" t="32050" b="32050"/>
          <a:stretch>
            <a:fillRect/>
          </a:stretch>
        </p:blipFill>
        <p:spPr>
          <a:xfrm>
            <a:off x="633253" y="1417320"/>
            <a:ext cx="7877494"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2 of 3</a:t>
            </a:r>
          </a:p>
        </p:txBody>
      </p:sp>
    </p:spTree>
    <p:extLst>
      <p:ext uri="{BB962C8B-B14F-4D97-AF65-F5344CB8AC3E}">
        <p14:creationId xmlns:p14="http://schemas.microsoft.com/office/powerpoint/2010/main" val="10177834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COURSE SELECTION 3/3</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54</a:t>
            </a:fld>
            <a:endParaRPr lang="en-GB"/>
          </a:p>
        </p:txBody>
      </p:sp>
      <p:pic>
        <p:nvPicPr>
          <p:cNvPr id="90" name="Project evidence image" descr="Continuation 3 of 3, full width, from 4.6-course-selection-draft.png"/>
          <p:cNvPicPr/>
          <p:nvPr/>
        </p:nvPicPr>
        <p:blipFill>
          <a:blip r:embed="rIdFullPageImage"/>
          <a:srcRect l="0" r="0" t="64100" b="0"/>
          <a:stretch>
            <a:fillRect/>
          </a:stretch>
        </p:blipFill>
        <p:spPr>
          <a:xfrm>
            <a:off x="633253" y="1417320"/>
            <a:ext cx="7877494"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3 of 3</a:t>
            </a:r>
          </a:p>
        </p:txBody>
      </p:sp>
    </p:spTree>
    <p:extLst>
      <p:ext uri="{BB962C8B-B14F-4D97-AF65-F5344CB8AC3E}">
        <p14:creationId xmlns:p14="http://schemas.microsoft.com/office/powerpoint/2010/main" val="10177834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FINANCE 1/2</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55</a:t>
            </a:fld>
            <a:endParaRPr lang="en-GB"/>
          </a:p>
        </p:txBody>
      </p:sp>
      <p:pic>
        <p:nvPicPr>
          <p:cNvPr id="90" name="Project evidence image" descr="Continuation 1 of 2, full width, from 4.7-student-finance.png"/>
          <p:cNvPicPr/>
          <p:nvPr/>
        </p:nvPicPr>
        <p:blipFill>
          <a:blip r:embed="rIdFullPageImage"/>
          <a:srcRect l="0" r="0" t="0" b="47474"/>
          <a:stretch>
            <a:fillRect/>
          </a:stretch>
        </p:blipFill>
        <p:spPr>
          <a:xfrm>
            <a:off x="1074569" y="1417320"/>
            <a:ext cx="6994861"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1 of 2</a:t>
            </a:r>
          </a:p>
        </p:txBody>
      </p:sp>
    </p:spTree>
    <p:extLst>
      <p:ext uri="{BB962C8B-B14F-4D97-AF65-F5344CB8AC3E}">
        <p14:creationId xmlns:p14="http://schemas.microsoft.com/office/powerpoint/2010/main" val="10177834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FINANCE 2/2</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56</a:t>
            </a:fld>
            <a:endParaRPr lang="en-GB"/>
          </a:p>
        </p:txBody>
      </p:sp>
      <p:pic>
        <p:nvPicPr>
          <p:cNvPr id="90" name="Project evidence image" descr="Continuation 2 of 2, full width, from 4.7-student-finance.png"/>
          <p:cNvPicPr/>
          <p:nvPr/>
        </p:nvPicPr>
        <p:blipFill>
          <a:blip r:embed="rIdFullPageImage"/>
          <a:srcRect l="0" r="0" t="47474" b="0"/>
          <a:stretch>
            <a:fillRect/>
          </a:stretch>
        </p:blipFill>
        <p:spPr>
          <a:xfrm>
            <a:off x="1074569" y="1417320"/>
            <a:ext cx="6994861"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2 of 2</a:t>
            </a:r>
          </a:p>
        </p:txBody>
      </p:sp>
    </p:spTree>
    <p:extLst>
      <p:ext uri="{BB962C8B-B14F-4D97-AF65-F5344CB8AC3E}">
        <p14:creationId xmlns:p14="http://schemas.microsoft.com/office/powerpoint/2010/main" val="10177834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TIMETABLE 1/3</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57</a:t>
            </a:fld>
            <a:endParaRPr lang="en-GB"/>
          </a:p>
        </p:txBody>
      </p:sp>
      <p:pic>
        <p:nvPicPr>
          <p:cNvPr id="90" name="Project evidence image" descr="Continuation 1 of 3, full width, from 4.10-student-timetable-week.png"/>
          <p:cNvPicPr/>
          <p:nvPr/>
        </p:nvPicPr>
        <p:blipFill>
          <a:blip r:embed="rIdFullPageImage"/>
          <a:srcRect l="0" r="0" t="0" b="64372"/>
          <a:stretch>
            <a:fillRect/>
          </a:stretch>
        </p:blipFill>
        <p:spPr>
          <a:xfrm>
            <a:off x="1030833" y="1417320"/>
            <a:ext cx="7082334"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1 of 3</a:t>
            </a:r>
          </a:p>
        </p:txBody>
      </p:sp>
    </p:spTree>
    <p:extLst>
      <p:ext uri="{BB962C8B-B14F-4D97-AF65-F5344CB8AC3E}">
        <p14:creationId xmlns:p14="http://schemas.microsoft.com/office/powerpoint/2010/main" val="10177834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TIMETABLE 2/3</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58</a:t>
            </a:fld>
            <a:endParaRPr lang="en-GB"/>
          </a:p>
        </p:txBody>
      </p:sp>
      <p:pic>
        <p:nvPicPr>
          <p:cNvPr id="90" name="Project evidence image" descr="Continuation 2 of 3, full width, from 4.10-student-timetable-week.png"/>
          <p:cNvPicPr/>
          <p:nvPr/>
        </p:nvPicPr>
        <p:blipFill>
          <a:blip r:embed="rIdFullPageImage"/>
          <a:srcRect l="0" r="0" t="32186" b="32186"/>
          <a:stretch>
            <a:fillRect/>
          </a:stretch>
        </p:blipFill>
        <p:spPr>
          <a:xfrm>
            <a:off x="1030833" y="1417320"/>
            <a:ext cx="7082334"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2 of 3</a:t>
            </a:r>
          </a:p>
        </p:txBody>
      </p:sp>
    </p:spTree>
    <p:extLst>
      <p:ext uri="{BB962C8B-B14F-4D97-AF65-F5344CB8AC3E}">
        <p14:creationId xmlns:p14="http://schemas.microsoft.com/office/powerpoint/2010/main" val="10177834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TIMETABLE 3/3</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59</a:t>
            </a:fld>
            <a:endParaRPr lang="en-GB"/>
          </a:p>
        </p:txBody>
      </p:sp>
      <p:pic>
        <p:nvPicPr>
          <p:cNvPr id="90" name="Project evidence image" descr="Continuation 3 of 3, full width, from 4.10-student-timetable-week.png"/>
          <p:cNvPicPr/>
          <p:nvPr/>
        </p:nvPicPr>
        <p:blipFill>
          <a:blip r:embed="rIdFullPageImage"/>
          <a:srcRect l="0" r="0" t="64372" b="0"/>
          <a:stretch>
            <a:fillRect/>
          </a:stretch>
        </p:blipFill>
        <p:spPr>
          <a:xfrm>
            <a:off x="1030833" y="1417320"/>
            <a:ext cx="7082334"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3 of 3</a:t>
            </a:r>
          </a:p>
        </p:txBody>
      </p:sp>
    </p:spTree>
    <p:extLst>
      <p:ext uri="{BB962C8B-B14F-4D97-AF65-F5344CB8AC3E}">
        <p14:creationId xmlns:p14="http://schemas.microsoft.com/office/powerpoint/2010/main" val="10177834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AUDIT TRAIL 1/3</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60</a:t>
            </a:fld>
            <a:endParaRPr lang="en-GB"/>
          </a:p>
        </p:txBody>
      </p:sp>
      <p:pic>
        <p:nvPicPr>
          <p:cNvPr id="90" name="Project evidence image" descr="Continuation 1 of 3, full width, from 4.11-connected-audit-trail.png"/>
          <p:cNvPicPr/>
          <p:nvPr/>
        </p:nvPicPr>
        <p:blipFill>
          <a:blip r:embed="rIdFullPageImage"/>
          <a:srcRect l="0" r="0" t="0" b="64017"/>
          <a:stretch>
            <a:fillRect/>
          </a:stretch>
        </p:blipFill>
        <p:spPr>
          <a:xfrm>
            <a:off x="535633" y="1417320"/>
            <a:ext cx="8072733"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1 of 3</a:t>
            </a:r>
          </a:p>
        </p:txBody>
      </p:sp>
    </p:spTree>
    <p:extLst>
      <p:ext uri="{BB962C8B-B14F-4D97-AF65-F5344CB8AC3E}">
        <p14:creationId xmlns:p14="http://schemas.microsoft.com/office/powerpoint/2010/main" val="10177834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AUDIT TRAIL 2/3</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61</a:t>
            </a:fld>
            <a:endParaRPr lang="en-GB"/>
          </a:p>
        </p:txBody>
      </p:sp>
      <p:pic>
        <p:nvPicPr>
          <p:cNvPr id="90" name="Project evidence image" descr="Continuation 2 of 3, full width, from 4.11-connected-audit-trail.png"/>
          <p:cNvPicPr/>
          <p:nvPr/>
        </p:nvPicPr>
        <p:blipFill>
          <a:blip r:embed="rIdFullPageImage"/>
          <a:srcRect l="0" r="0" t="32028" b="31989"/>
          <a:stretch>
            <a:fillRect/>
          </a:stretch>
        </p:blipFill>
        <p:spPr>
          <a:xfrm>
            <a:off x="535633" y="1417320"/>
            <a:ext cx="8072733"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2 of 3</a:t>
            </a:r>
          </a:p>
        </p:txBody>
      </p:sp>
    </p:spTree>
    <p:extLst>
      <p:ext uri="{BB962C8B-B14F-4D97-AF65-F5344CB8AC3E}">
        <p14:creationId xmlns:p14="http://schemas.microsoft.com/office/powerpoint/2010/main" val="10177834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Arial" pitchFamily="34" charset="0"/>
                <a:cs typeface="Arial" pitchFamily="34" charset="0"/>
              </a:rPr>
              <a:t>AUDIT TRAIL 3/3</a:t>
            </a:r>
            <a:endParaRPr lang="en-GB" b="1" dirty="0"/>
          </a:p>
        </p:txBody>
      </p:sp>
      <p:sp>
        <p:nvSpPr>
          <p:cNvPr id="4" name="Slide Number Placeholder 3"/>
          <p:cNvSpPr>
            <a:spLocks noGrp="1"/>
          </p:cNvSpPr>
          <p:nvPr>
            <p:ph type="sldNum" sz="quarter" idx="12"/>
          </p:nvPr>
        </p:nvSpPr>
        <p:spPr/>
        <p:txBody>
          <a:bodyPr/>
          <a:lstStyle/>
          <a:p>
            <a:fld id="{B05B2CF3-79DA-4FD7-92C8-684048778C6E}" type="slidenum">
              <a:rPr lang="en-GB" smtClean="0"/>
              <a:pPr/>
              <a:t>62</a:t>
            </a:fld>
            <a:endParaRPr lang="en-GB"/>
          </a:p>
        </p:txBody>
      </p:sp>
      <p:pic>
        <p:nvPicPr>
          <p:cNvPr id="90" name="Project evidence image" descr="Continuation 3 of 3, full width, from 4.11-connected-audit-trail.png"/>
          <p:cNvPicPr/>
          <p:nvPr/>
        </p:nvPicPr>
        <p:blipFill>
          <a:blip r:embed="rIdFullPageImage"/>
          <a:srcRect l="0" r="0" t="64017" b="0"/>
          <a:stretch>
            <a:fillRect/>
          </a:stretch>
        </p:blipFill>
        <p:spPr>
          <a:xfrm>
            <a:off x="535633" y="1417320"/>
            <a:ext cx="8072733" cy="4480560"/>
          </a:xfrm>
          <a:prstGeom prst="rect">
            <a:avLst/>
          </a:prstGeom>
        </p:spPr>
      </p:pic>
      <p:sp>
        <p:nvSpPr>
          <p:cNvPr id="98" name="Full view guidance"/>
          <p:cNvSpPr txBox="1"/>
          <p:nvPr/>
        </p:nvSpPr>
        <p:spPr>
          <a:xfrm>
            <a:off x="320040" y="6080760"/>
            <a:ext cx="8503920" cy="365760"/>
          </a:xfrm>
        </p:spPr>
        <p:txBody>
          <a:bodyPr anchor="ctr"/>
          <a:lstStyle/>
          <a:p>
            <a:pPr algn="ctr"/>
            <a:r>
              <a:rPr sz="1800">
                <a:latin typeface="Arial"/>
              </a:rPr>
              <a:t>Reference appendix · full-width page continuation 3 of 3</a:t>
            </a:r>
          </a:p>
        </p:txBody>
      </p:sp>
    </p:spTree>
    <p:extLst>
      <p:ext uri="{BB962C8B-B14F-4D97-AF65-F5344CB8AC3E}">
        <p14:creationId xmlns:p14="http://schemas.microsoft.com/office/powerpoint/2010/main" val="1017783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1022</TotalTime>
  <Words>985</Words>
  <Application>Microsoft Office PowerPoint</Application>
  <PresentationFormat>On-screen Show (4:3)</PresentationFormat>
  <Paragraphs>115</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Unicode MS</vt:lpstr>
      <vt:lpstr>Calibri</vt:lpstr>
      <vt:lpstr>PMingLiU</vt:lpstr>
      <vt:lpstr>Times New Roman</vt:lpstr>
      <vt:lpstr>Wingdings</vt:lpstr>
      <vt:lpstr>Office Theme</vt:lpstr>
      <vt:lpstr>THE UNIVERSITY OF ZAMBIA School of Natural Sciences Department of Computing and Informatics </vt:lpstr>
      <vt:lpstr>COMPUTER SCIENCE  4TH YEAR PROJECT PRESENTATION</vt:lpstr>
      <vt:lpstr>PRESENTATION OUTLINE</vt:lpstr>
      <vt:lpstr>INTRODUCTION</vt:lpstr>
      <vt:lpstr>BACKGROUND OF THE STUDY</vt:lpstr>
      <vt:lpstr>STATEMENT OF THE PROBLEM</vt:lpstr>
      <vt:lpstr>AIM OF THE STUDY</vt:lpstr>
      <vt:lpstr>RESEARCH OBJECTIVES</vt:lpstr>
      <vt:lpstr>RESEARCH QUESTIONS</vt:lpstr>
      <vt:lpstr>LITERATURE REVIEW (1/3)</vt:lpstr>
      <vt:lpstr>LITERATURE REVIEW (2/3)</vt:lpstr>
      <vt:lpstr>LITERATURE REVIEW (3/3)</vt:lpstr>
      <vt:lpstr>RESEARCH METHODOLOGY (1/4)</vt:lpstr>
      <vt:lpstr>RESEARCH METHODOLOGY (2/4)</vt:lpstr>
      <vt:lpstr>RESEARCH METHODOLOGY (3/4)</vt:lpstr>
      <vt:lpstr>RESEARCH METHODOLOGY (4/4)</vt:lpstr>
      <vt:lpstr>RESULTS AND DISCUSSION (1/4)</vt:lpstr>
      <vt:lpstr>RESULTS AND DISCUSSION (2/4)</vt:lpstr>
      <vt:lpstr>RESULTS AND DISCUSSION (3/4)</vt:lpstr>
      <vt:lpstr>RESULTS AND DISCUSSION (4/4)</vt:lpstr>
      <vt:lpstr>CONCLUSION</vt:lpstr>
      <vt:lpstr>RECOMMENDATIONS</vt:lpstr>
      <vt:lpstr>REFERNCES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UNIVERSITY OF ZAMBIA Graduate School of Business</dc:title>
  <dc:creator>Sasscal</dc:creator>
  <cp:lastModifiedBy>Jackson Phiri</cp:lastModifiedBy>
  <cp:revision>138</cp:revision>
  <dcterms:created xsi:type="dcterms:W3CDTF">2017-03-27T04:32:14Z</dcterms:created>
  <dcterms:modified xsi:type="dcterms:W3CDTF">2026-09-23T06:06:18Z</dcterms:modified>
</cp:coreProperties>
</file>